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26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</p:sldIdLst>
  <p:sldSz cx="9144000" cy="6858000" type="screen4x3"/>
  <p:notesSz cx="6858000" cy="9144000"/>
  <p:defaultTextStyle>
    <a:defPPr>
      <a:defRPr lang="en-I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150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6626A8-82AE-41FF-A7D7-42B5E08EA641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F295701-2C8E-4388-B1CB-0A6CC5332A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9454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Line 2"/>
          <p:cNvSpPr>
            <a:spLocks noChangeShapeType="1"/>
          </p:cNvSpPr>
          <p:nvPr/>
        </p:nvSpPr>
        <p:spPr bwMode="auto">
          <a:xfrm>
            <a:off x="7315200" y="1066800"/>
            <a:ext cx="0" cy="17526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350"/>
          </a:p>
        </p:txBody>
      </p:sp>
      <p:sp>
        <p:nvSpPr>
          <p:cNvPr id="66563" name="Rectangle 3"/>
          <p:cNvSpPr>
            <a:spLocks noGrp="1" noChangeArrowheads="1"/>
          </p:cNvSpPr>
          <p:nvPr>
            <p:ph type="ctrTitle"/>
          </p:nvPr>
        </p:nvSpPr>
        <p:spPr>
          <a:xfrm>
            <a:off x="762000" y="457200"/>
            <a:ext cx="6389688" cy="2133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altLang="en-US" noProof="0"/>
              <a:t>Click to edit Master title style</a:t>
            </a:r>
          </a:p>
        </p:txBody>
      </p:sp>
      <p:sp>
        <p:nvSpPr>
          <p:cNvPr id="66564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849313" y="3049588"/>
            <a:ext cx="6248400" cy="2362200"/>
          </a:xfrm>
        </p:spPr>
        <p:txBody>
          <a:bodyPr/>
          <a:lstStyle>
            <a:lvl1pPr marL="0" indent="0" algn="r"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en-US" altLang="en-US" noProof="0"/>
              <a:t>Click to edit Master subtitle style</a:t>
            </a:r>
          </a:p>
        </p:txBody>
      </p:sp>
      <p:sp>
        <p:nvSpPr>
          <p:cNvPr id="66565" name="Rectangle 5"/>
          <p:cNvSpPr>
            <a:spLocks noGrp="1" noChangeArrowheads="1"/>
          </p:cNvSpPr>
          <p:nvPr>
            <p:ph type="dt" sz="half" idx="2"/>
          </p:nvPr>
        </p:nvSpPr>
        <p:spPr/>
        <p:txBody>
          <a:bodyPr/>
          <a:lstStyle>
            <a:lvl1pPr>
              <a:defRPr/>
            </a:lvl1pPr>
          </a:lstStyle>
          <a:p>
            <a:fld id="{A7D3D052-DBC4-4A26-A535-4D3A18FDD34F}" type="datetime1">
              <a:rPr lang="en-US" smtClean="0"/>
              <a:t>10/14/2025</a:t>
            </a:fld>
            <a:endParaRPr lang="en-US"/>
          </a:p>
        </p:txBody>
      </p:sp>
      <p:sp>
        <p:nvSpPr>
          <p:cNvPr id="66566" name="Rectangle 6"/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6567" name="Rectangle 7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66568" name="Line 8"/>
          <p:cNvSpPr>
            <a:spLocks noChangeShapeType="1"/>
          </p:cNvSpPr>
          <p:nvPr/>
        </p:nvSpPr>
        <p:spPr bwMode="auto">
          <a:xfrm>
            <a:off x="838200" y="2819400"/>
            <a:ext cx="6477000" cy="0"/>
          </a:xfrm>
          <a:prstGeom prst="line">
            <a:avLst/>
          </a:prstGeom>
          <a:noFill/>
          <a:ln w="635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350"/>
          </a:p>
        </p:txBody>
      </p:sp>
      <p:grpSp>
        <p:nvGrpSpPr>
          <p:cNvPr id="66569" name="Group 9" descr="decorative graphic made up of dots"/>
          <p:cNvGrpSpPr>
            <a:grpSpLocks/>
          </p:cNvGrpSpPr>
          <p:nvPr/>
        </p:nvGrpSpPr>
        <p:grpSpPr bwMode="auto">
          <a:xfrm>
            <a:off x="7467601" y="1219200"/>
            <a:ext cx="792163" cy="1295400"/>
            <a:chOff x="5136" y="960"/>
            <a:chExt cx="528" cy="864"/>
          </a:xfrm>
        </p:grpSpPr>
        <p:sp>
          <p:nvSpPr>
            <p:cNvPr id="66570" name="Oval 10"/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571" name="Oval 11"/>
            <p:cNvSpPr>
              <a:spLocks noChangeArrowheads="1"/>
            </p:cNvSpPr>
            <p:nvPr/>
          </p:nvSpPr>
          <p:spPr bwMode="auto">
            <a:xfrm>
              <a:off x="5248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572" name="Oval 12"/>
            <p:cNvSpPr>
              <a:spLocks noChangeArrowheads="1"/>
            </p:cNvSpPr>
            <p:nvPr/>
          </p:nvSpPr>
          <p:spPr bwMode="auto">
            <a:xfrm>
              <a:off x="5360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573" name="Oval 13"/>
            <p:cNvSpPr>
              <a:spLocks noChangeArrowheads="1"/>
            </p:cNvSpPr>
            <p:nvPr/>
          </p:nvSpPr>
          <p:spPr bwMode="auto">
            <a:xfrm>
              <a:off x="5136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574" name="Oval 14"/>
            <p:cNvSpPr>
              <a:spLocks noChangeArrowheads="1"/>
            </p:cNvSpPr>
            <p:nvPr/>
          </p:nvSpPr>
          <p:spPr bwMode="auto">
            <a:xfrm>
              <a:off x="5248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575" name="Oval 15"/>
            <p:cNvSpPr>
              <a:spLocks noChangeArrowheads="1"/>
            </p:cNvSpPr>
            <p:nvPr/>
          </p:nvSpPr>
          <p:spPr bwMode="auto">
            <a:xfrm>
              <a:off x="5360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576" name="Oval 16"/>
            <p:cNvSpPr>
              <a:spLocks noChangeArrowheads="1"/>
            </p:cNvSpPr>
            <p:nvPr/>
          </p:nvSpPr>
          <p:spPr bwMode="auto">
            <a:xfrm>
              <a:off x="5472" y="1072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577" name="Oval 17"/>
            <p:cNvSpPr>
              <a:spLocks noChangeArrowheads="1"/>
            </p:cNvSpPr>
            <p:nvPr/>
          </p:nvSpPr>
          <p:spPr bwMode="auto">
            <a:xfrm>
              <a:off x="5136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578" name="Oval 18"/>
            <p:cNvSpPr>
              <a:spLocks noChangeArrowheads="1"/>
            </p:cNvSpPr>
            <p:nvPr/>
          </p:nvSpPr>
          <p:spPr bwMode="auto">
            <a:xfrm>
              <a:off x="5248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579" name="Oval 19"/>
            <p:cNvSpPr>
              <a:spLocks noChangeArrowheads="1"/>
            </p:cNvSpPr>
            <p:nvPr/>
          </p:nvSpPr>
          <p:spPr bwMode="auto">
            <a:xfrm>
              <a:off x="5360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580" name="Oval 20"/>
            <p:cNvSpPr>
              <a:spLocks noChangeArrowheads="1"/>
            </p:cNvSpPr>
            <p:nvPr/>
          </p:nvSpPr>
          <p:spPr bwMode="auto">
            <a:xfrm>
              <a:off x="5472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581" name="Oval 21"/>
            <p:cNvSpPr>
              <a:spLocks noChangeArrowheads="1"/>
            </p:cNvSpPr>
            <p:nvPr/>
          </p:nvSpPr>
          <p:spPr bwMode="auto">
            <a:xfrm>
              <a:off x="5584" y="1184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582" name="Oval 22"/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583" name="Oval 23"/>
            <p:cNvSpPr>
              <a:spLocks noChangeArrowheads="1"/>
            </p:cNvSpPr>
            <p:nvPr/>
          </p:nvSpPr>
          <p:spPr bwMode="auto">
            <a:xfrm>
              <a:off x="5248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584" name="Oval 24"/>
            <p:cNvSpPr>
              <a:spLocks noChangeArrowheads="1"/>
            </p:cNvSpPr>
            <p:nvPr/>
          </p:nvSpPr>
          <p:spPr bwMode="auto">
            <a:xfrm>
              <a:off x="5360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585" name="Oval 25"/>
            <p:cNvSpPr>
              <a:spLocks noChangeArrowheads="1"/>
            </p:cNvSpPr>
            <p:nvPr/>
          </p:nvSpPr>
          <p:spPr bwMode="auto">
            <a:xfrm>
              <a:off x="5472" y="1296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586" name="Oval 26"/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587" name="Oval 27"/>
            <p:cNvSpPr>
              <a:spLocks noChangeArrowheads="1"/>
            </p:cNvSpPr>
            <p:nvPr/>
          </p:nvSpPr>
          <p:spPr bwMode="auto">
            <a:xfrm>
              <a:off x="5248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588" name="Oval 28"/>
            <p:cNvSpPr>
              <a:spLocks noChangeArrowheads="1"/>
            </p:cNvSpPr>
            <p:nvPr/>
          </p:nvSpPr>
          <p:spPr bwMode="auto">
            <a:xfrm>
              <a:off x="5360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589" name="Oval 29"/>
            <p:cNvSpPr>
              <a:spLocks noChangeArrowheads="1"/>
            </p:cNvSpPr>
            <p:nvPr/>
          </p:nvSpPr>
          <p:spPr bwMode="auto">
            <a:xfrm>
              <a:off x="5472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590" name="Oval 30"/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591" name="Oval 31"/>
            <p:cNvSpPr>
              <a:spLocks noChangeArrowheads="1"/>
            </p:cNvSpPr>
            <p:nvPr/>
          </p:nvSpPr>
          <p:spPr bwMode="auto">
            <a:xfrm>
              <a:off x="5136" y="1520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592" name="Oval 32"/>
            <p:cNvSpPr>
              <a:spLocks noChangeArrowheads="1"/>
            </p:cNvSpPr>
            <p:nvPr/>
          </p:nvSpPr>
          <p:spPr bwMode="auto">
            <a:xfrm>
              <a:off x="5248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593" name="Oval 33"/>
            <p:cNvSpPr>
              <a:spLocks noChangeArrowheads="1"/>
            </p:cNvSpPr>
            <p:nvPr/>
          </p:nvSpPr>
          <p:spPr bwMode="auto">
            <a:xfrm>
              <a:off x="5360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594" name="Oval 34"/>
            <p:cNvSpPr>
              <a:spLocks noChangeArrowheads="1"/>
            </p:cNvSpPr>
            <p:nvPr/>
          </p:nvSpPr>
          <p:spPr bwMode="auto">
            <a:xfrm>
              <a:off x="5472" y="1520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595" name="Oval 35"/>
            <p:cNvSpPr>
              <a:spLocks noChangeArrowheads="1"/>
            </p:cNvSpPr>
            <p:nvPr/>
          </p:nvSpPr>
          <p:spPr bwMode="auto">
            <a:xfrm>
              <a:off x="5136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596" name="Oval 36"/>
            <p:cNvSpPr>
              <a:spLocks noChangeArrowheads="1"/>
            </p:cNvSpPr>
            <p:nvPr/>
          </p:nvSpPr>
          <p:spPr bwMode="auto">
            <a:xfrm>
              <a:off x="5248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597" name="Oval 37"/>
            <p:cNvSpPr>
              <a:spLocks noChangeArrowheads="1"/>
            </p:cNvSpPr>
            <p:nvPr/>
          </p:nvSpPr>
          <p:spPr bwMode="auto">
            <a:xfrm>
              <a:off x="5360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598" name="Oval 38"/>
            <p:cNvSpPr>
              <a:spLocks noChangeArrowheads="1"/>
            </p:cNvSpPr>
            <p:nvPr/>
          </p:nvSpPr>
          <p:spPr bwMode="auto">
            <a:xfrm>
              <a:off x="5472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599" name="Oval 39"/>
            <p:cNvSpPr>
              <a:spLocks noChangeArrowheads="1"/>
            </p:cNvSpPr>
            <p:nvPr/>
          </p:nvSpPr>
          <p:spPr bwMode="auto">
            <a:xfrm>
              <a:off x="5248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600" name="Oval 40"/>
            <p:cNvSpPr>
              <a:spLocks noChangeArrowheads="1"/>
            </p:cNvSpPr>
            <p:nvPr/>
          </p:nvSpPr>
          <p:spPr bwMode="auto">
            <a:xfrm>
              <a:off x="5472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</p:grpSp>
      <p:grpSp>
        <p:nvGrpSpPr>
          <p:cNvPr id="66601" name="Group 41" descr="decorative graphic made up of dots"/>
          <p:cNvGrpSpPr>
            <a:grpSpLocks/>
          </p:cNvGrpSpPr>
          <p:nvPr/>
        </p:nvGrpSpPr>
        <p:grpSpPr bwMode="auto">
          <a:xfrm>
            <a:off x="7467601" y="1219200"/>
            <a:ext cx="792163" cy="1295400"/>
            <a:chOff x="5136" y="960"/>
            <a:chExt cx="528" cy="864"/>
          </a:xfrm>
        </p:grpSpPr>
        <p:sp>
          <p:nvSpPr>
            <p:cNvPr id="66602" name="Oval 42"/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603" name="Oval 43"/>
            <p:cNvSpPr>
              <a:spLocks noChangeArrowheads="1"/>
            </p:cNvSpPr>
            <p:nvPr/>
          </p:nvSpPr>
          <p:spPr bwMode="auto">
            <a:xfrm>
              <a:off x="5248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604" name="Oval 44"/>
            <p:cNvSpPr>
              <a:spLocks noChangeArrowheads="1"/>
            </p:cNvSpPr>
            <p:nvPr/>
          </p:nvSpPr>
          <p:spPr bwMode="auto">
            <a:xfrm>
              <a:off x="5360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605" name="Oval 45"/>
            <p:cNvSpPr>
              <a:spLocks noChangeArrowheads="1"/>
            </p:cNvSpPr>
            <p:nvPr/>
          </p:nvSpPr>
          <p:spPr bwMode="auto">
            <a:xfrm>
              <a:off x="5136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606" name="Oval 46"/>
            <p:cNvSpPr>
              <a:spLocks noChangeArrowheads="1"/>
            </p:cNvSpPr>
            <p:nvPr/>
          </p:nvSpPr>
          <p:spPr bwMode="auto">
            <a:xfrm>
              <a:off x="5248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607" name="Oval 47"/>
            <p:cNvSpPr>
              <a:spLocks noChangeArrowheads="1"/>
            </p:cNvSpPr>
            <p:nvPr/>
          </p:nvSpPr>
          <p:spPr bwMode="auto">
            <a:xfrm>
              <a:off x="5360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608" name="Oval 48"/>
            <p:cNvSpPr>
              <a:spLocks noChangeArrowheads="1"/>
            </p:cNvSpPr>
            <p:nvPr/>
          </p:nvSpPr>
          <p:spPr bwMode="auto">
            <a:xfrm>
              <a:off x="5472" y="1072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609" name="Oval 49"/>
            <p:cNvSpPr>
              <a:spLocks noChangeArrowheads="1"/>
            </p:cNvSpPr>
            <p:nvPr/>
          </p:nvSpPr>
          <p:spPr bwMode="auto">
            <a:xfrm>
              <a:off x="5136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610" name="Oval 50"/>
            <p:cNvSpPr>
              <a:spLocks noChangeArrowheads="1"/>
            </p:cNvSpPr>
            <p:nvPr/>
          </p:nvSpPr>
          <p:spPr bwMode="auto">
            <a:xfrm>
              <a:off x="5248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611" name="Oval 51"/>
            <p:cNvSpPr>
              <a:spLocks noChangeArrowheads="1"/>
            </p:cNvSpPr>
            <p:nvPr/>
          </p:nvSpPr>
          <p:spPr bwMode="auto">
            <a:xfrm>
              <a:off x="5360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612" name="Oval 52"/>
            <p:cNvSpPr>
              <a:spLocks noChangeArrowheads="1"/>
            </p:cNvSpPr>
            <p:nvPr/>
          </p:nvSpPr>
          <p:spPr bwMode="auto">
            <a:xfrm>
              <a:off x="5472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613" name="Oval 53"/>
            <p:cNvSpPr>
              <a:spLocks noChangeArrowheads="1"/>
            </p:cNvSpPr>
            <p:nvPr/>
          </p:nvSpPr>
          <p:spPr bwMode="auto">
            <a:xfrm>
              <a:off x="5584" y="1184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614" name="Oval 54"/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615" name="Oval 55"/>
            <p:cNvSpPr>
              <a:spLocks noChangeArrowheads="1"/>
            </p:cNvSpPr>
            <p:nvPr/>
          </p:nvSpPr>
          <p:spPr bwMode="auto">
            <a:xfrm>
              <a:off x="5248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616" name="Oval 56"/>
            <p:cNvSpPr>
              <a:spLocks noChangeArrowheads="1"/>
            </p:cNvSpPr>
            <p:nvPr/>
          </p:nvSpPr>
          <p:spPr bwMode="auto">
            <a:xfrm>
              <a:off x="5360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617" name="Oval 57"/>
            <p:cNvSpPr>
              <a:spLocks noChangeArrowheads="1"/>
            </p:cNvSpPr>
            <p:nvPr/>
          </p:nvSpPr>
          <p:spPr bwMode="auto">
            <a:xfrm>
              <a:off x="5472" y="1296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618" name="Oval 58"/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619" name="Oval 59"/>
            <p:cNvSpPr>
              <a:spLocks noChangeArrowheads="1"/>
            </p:cNvSpPr>
            <p:nvPr/>
          </p:nvSpPr>
          <p:spPr bwMode="auto">
            <a:xfrm>
              <a:off x="5248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620" name="Oval 60"/>
            <p:cNvSpPr>
              <a:spLocks noChangeArrowheads="1"/>
            </p:cNvSpPr>
            <p:nvPr/>
          </p:nvSpPr>
          <p:spPr bwMode="auto">
            <a:xfrm>
              <a:off x="5360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621" name="Oval 61"/>
            <p:cNvSpPr>
              <a:spLocks noChangeArrowheads="1"/>
            </p:cNvSpPr>
            <p:nvPr/>
          </p:nvSpPr>
          <p:spPr bwMode="auto">
            <a:xfrm>
              <a:off x="5472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622" name="Oval 62"/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623" name="Oval 63"/>
            <p:cNvSpPr>
              <a:spLocks noChangeArrowheads="1"/>
            </p:cNvSpPr>
            <p:nvPr/>
          </p:nvSpPr>
          <p:spPr bwMode="auto">
            <a:xfrm>
              <a:off x="5136" y="1520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624" name="Oval 64"/>
            <p:cNvSpPr>
              <a:spLocks noChangeArrowheads="1"/>
            </p:cNvSpPr>
            <p:nvPr/>
          </p:nvSpPr>
          <p:spPr bwMode="auto">
            <a:xfrm>
              <a:off x="5248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625" name="Oval 65"/>
            <p:cNvSpPr>
              <a:spLocks noChangeArrowheads="1"/>
            </p:cNvSpPr>
            <p:nvPr/>
          </p:nvSpPr>
          <p:spPr bwMode="auto">
            <a:xfrm>
              <a:off x="5360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626" name="Oval 66"/>
            <p:cNvSpPr>
              <a:spLocks noChangeArrowheads="1"/>
            </p:cNvSpPr>
            <p:nvPr/>
          </p:nvSpPr>
          <p:spPr bwMode="auto">
            <a:xfrm>
              <a:off x="5472" y="1520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627" name="Oval 67"/>
            <p:cNvSpPr>
              <a:spLocks noChangeArrowheads="1"/>
            </p:cNvSpPr>
            <p:nvPr/>
          </p:nvSpPr>
          <p:spPr bwMode="auto">
            <a:xfrm>
              <a:off x="5136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628" name="Oval 68"/>
            <p:cNvSpPr>
              <a:spLocks noChangeArrowheads="1"/>
            </p:cNvSpPr>
            <p:nvPr/>
          </p:nvSpPr>
          <p:spPr bwMode="auto">
            <a:xfrm>
              <a:off x="5248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629" name="Oval 69"/>
            <p:cNvSpPr>
              <a:spLocks noChangeArrowheads="1"/>
            </p:cNvSpPr>
            <p:nvPr/>
          </p:nvSpPr>
          <p:spPr bwMode="auto">
            <a:xfrm>
              <a:off x="5360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630" name="Oval 70"/>
            <p:cNvSpPr>
              <a:spLocks noChangeArrowheads="1"/>
            </p:cNvSpPr>
            <p:nvPr/>
          </p:nvSpPr>
          <p:spPr bwMode="auto">
            <a:xfrm>
              <a:off x="5472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631" name="Oval 71"/>
            <p:cNvSpPr>
              <a:spLocks noChangeArrowheads="1"/>
            </p:cNvSpPr>
            <p:nvPr/>
          </p:nvSpPr>
          <p:spPr bwMode="auto">
            <a:xfrm>
              <a:off x="5248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632" name="Oval 72"/>
            <p:cNvSpPr>
              <a:spLocks noChangeArrowheads="1"/>
            </p:cNvSpPr>
            <p:nvPr/>
          </p:nvSpPr>
          <p:spPr bwMode="auto">
            <a:xfrm>
              <a:off x="5472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</p:grp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1716" y="6247727"/>
            <a:ext cx="374823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28412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7E4E659-E508-43FB-998A-E1DC92CEFAAD}" type="datetime1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5966" y="6261306"/>
            <a:ext cx="374823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23863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40"/>
            <a:ext cx="7886700" cy="2852737"/>
          </a:xfrm>
        </p:spPr>
        <p:txBody>
          <a:bodyPr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5"/>
            <a:ext cx="7886700" cy="1500187"/>
          </a:xfrm>
        </p:spPr>
        <p:txBody>
          <a:bodyPr/>
          <a:lstStyle>
            <a:lvl1pPr marL="0" indent="0">
              <a:buNone/>
              <a:defRPr sz="1800"/>
            </a:lvl1pPr>
            <a:lvl2pPr marL="342900" indent="0">
              <a:buNone/>
              <a:defRPr sz="1500"/>
            </a:lvl2pPr>
            <a:lvl3pPr marL="685800" indent="0">
              <a:buNone/>
              <a:defRPr sz="135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F730757-D8B3-46A4-AF0F-1A2B0B2D8E37}" type="datetime1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6907" y="6247727"/>
            <a:ext cx="374823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34136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719263"/>
            <a:ext cx="40386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19263"/>
            <a:ext cx="40386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806F6F4-BFD6-4D2F-820E-8B79D5D8D750}" type="datetime1">
              <a:rPr lang="en-US" smtClean="0"/>
              <a:t>10/14/2025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6907" y="6247727"/>
            <a:ext cx="374823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79214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7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9" y="1681163"/>
            <a:ext cx="3868737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9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FF5D853-183F-4ECF-AC1A-FBBD993DB83A}" type="datetime1">
              <a:rPr lang="en-US" smtClean="0"/>
              <a:t>10/14/2025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6907" y="6247727"/>
            <a:ext cx="374823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77820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519013C-F9F8-43A4-90A7-90014E28BD96}" type="datetime1">
              <a:rPr lang="en-US" smtClean="0"/>
              <a:t>10/14/2025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6907" y="6247727"/>
            <a:ext cx="374823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86083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DB99955-20C9-4E91-A4C7-6A0DC5DF8292}" type="datetime1">
              <a:rPr lang="en-US" smtClean="0"/>
              <a:t>10/14/2025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6907" y="6247727"/>
            <a:ext cx="374823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97909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9" y="457200"/>
            <a:ext cx="2949575" cy="1600200"/>
          </a:xfrm>
        </p:spPr>
        <p:txBody>
          <a:bodyPr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7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9" y="2057400"/>
            <a:ext cx="2949575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EA01CE8-D2EB-459E-8BFC-989556493EBE}" type="datetime1">
              <a:rPr lang="en-US" smtClean="0"/>
              <a:t>10/14/2025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6907" y="6247727"/>
            <a:ext cx="374823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59187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9" y="457200"/>
            <a:ext cx="2949575" cy="1600200"/>
          </a:xfrm>
        </p:spPr>
        <p:txBody>
          <a:bodyPr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7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9" y="2057400"/>
            <a:ext cx="2949575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37CD7B1-A08B-4E51-A8DA-D85405546864}" type="datetime1">
              <a:rPr lang="en-US" smtClean="0"/>
              <a:t>10/14/2025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6907" y="6247727"/>
            <a:ext cx="374823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82160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E9D6F11-C4CB-4624-9F8A-496C89ACB4DB}" type="datetime1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6907" y="6247727"/>
            <a:ext cx="374823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60579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22240"/>
            <a:ext cx="2057400" cy="600868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22240"/>
            <a:ext cx="6019800" cy="600868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B51A654-C997-4DC4-AEA5-9AA42B473AAF}" type="datetime1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6907" y="6247727"/>
            <a:ext cx="374823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5331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22238"/>
            <a:ext cx="75438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719263"/>
            <a:ext cx="40386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19263"/>
            <a:ext cx="40386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fld id="{FFC641AD-E24E-4777-82C0-6ADFFD83C36B}" type="datetime1">
              <a:rPr lang="en-US" smtClean="0"/>
              <a:t>10/14/2025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6907" y="6247727"/>
            <a:ext cx="374823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80686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Line 2"/>
          <p:cNvSpPr>
            <a:spLocks noChangeShapeType="1"/>
          </p:cNvSpPr>
          <p:nvPr/>
        </p:nvSpPr>
        <p:spPr bwMode="auto">
          <a:xfrm>
            <a:off x="8001000" y="0"/>
            <a:ext cx="0" cy="15240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350"/>
          </a:p>
        </p:txBody>
      </p:sp>
      <p:sp>
        <p:nvSpPr>
          <p:cNvPr id="65539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22238"/>
            <a:ext cx="7543800" cy="129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65540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719263"/>
            <a:ext cx="8229600" cy="4411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65541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750"/>
            </a:lvl1pPr>
          </a:lstStyle>
          <a:p>
            <a:fld id="{51D5B05B-94B9-4707-92E3-99E083427328}" type="datetime1">
              <a:rPr lang="en-US" smtClean="0"/>
              <a:t>10/14/2025</a:t>
            </a:fld>
            <a:endParaRPr lang="en-US"/>
          </a:p>
        </p:txBody>
      </p:sp>
      <p:sp>
        <p:nvSpPr>
          <p:cNvPr id="65542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750"/>
            </a:lvl1pPr>
          </a:lstStyle>
          <a:p>
            <a:endParaRPr lang="en-US"/>
          </a:p>
        </p:txBody>
      </p:sp>
      <p:sp>
        <p:nvSpPr>
          <p:cNvPr id="65543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75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grpSp>
        <p:nvGrpSpPr>
          <p:cNvPr id="65544" name="Group 8" descr="decorative graphic made up of dots"/>
          <p:cNvGrpSpPr>
            <a:grpSpLocks/>
          </p:cNvGrpSpPr>
          <p:nvPr/>
        </p:nvGrpSpPr>
        <p:grpSpPr bwMode="auto">
          <a:xfrm>
            <a:off x="8153401" y="152400"/>
            <a:ext cx="792163" cy="1295400"/>
            <a:chOff x="5136" y="960"/>
            <a:chExt cx="528" cy="864"/>
          </a:xfrm>
        </p:grpSpPr>
        <p:sp>
          <p:nvSpPr>
            <p:cNvPr id="65545" name="Oval 9"/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5546" name="Oval 10"/>
            <p:cNvSpPr>
              <a:spLocks noChangeArrowheads="1"/>
            </p:cNvSpPr>
            <p:nvPr/>
          </p:nvSpPr>
          <p:spPr bwMode="auto">
            <a:xfrm>
              <a:off x="5248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5547" name="Oval 11"/>
            <p:cNvSpPr>
              <a:spLocks noChangeArrowheads="1"/>
            </p:cNvSpPr>
            <p:nvPr/>
          </p:nvSpPr>
          <p:spPr bwMode="auto">
            <a:xfrm>
              <a:off x="5360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5548" name="Oval 12"/>
            <p:cNvSpPr>
              <a:spLocks noChangeArrowheads="1"/>
            </p:cNvSpPr>
            <p:nvPr/>
          </p:nvSpPr>
          <p:spPr bwMode="auto">
            <a:xfrm>
              <a:off x="5136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5549" name="Oval 13"/>
            <p:cNvSpPr>
              <a:spLocks noChangeArrowheads="1"/>
            </p:cNvSpPr>
            <p:nvPr/>
          </p:nvSpPr>
          <p:spPr bwMode="auto">
            <a:xfrm>
              <a:off x="5248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5550" name="Oval 14"/>
            <p:cNvSpPr>
              <a:spLocks noChangeArrowheads="1"/>
            </p:cNvSpPr>
            <p:nvPr/>
          </p:nvSpPr>
          <p:spPr bwMode="auto">
            <a:xfrm>
              <a:off x="5360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5551" name="Oval 15"/>
            <p:cNvSpPr>
              <a:spLocks noChangeArrowheads="1"/>
            </p:cNvSpPr>
            <p:nvPr/>
          </p:nvSpPr>
          <p:spPr bwMode="auto">
            <a:xfrm>
              <a:off x="5472" y="1072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5552" name="Oval 16"/>
            <p:cNvSpPr>
              <a:spLocks noChangeArrowheads="1"/>
            </p:cNvSpPr>
            <p:nvPr/>
          </p:nvSpPr>
          <p:spPr bwMode="auto">
            <a:xfrm>
              <a:off x="5136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5553" name="Oval 17"/>
            <p:cNvSpPr>
              <a:spLocks noChangeArrowheads="1"/>
            </p:cNvSpPr>
            <p:nvPr/>
          </p:nvSpPr>
          <p:spPr bwMode="auto">
            <a:xfrm>
              <a:off x="5248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5554" name="Oval 18"/>
            <p:cNvSpPr>
              <a:spLocks noChangeArrowheads="1"/>
            </p:cNvSpPr>
            <p:nvPr/>
          </p:nvSpPr>
          <p:spPr bwMode="auto">
            <a:xfrm>
              <a:off x="5360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5555" name="Oval 19"/>
            <p:cNvSpPr>
              <a:spLocks noChangeArrowheads="1"/>
            </p:cNvSpPr>
            <p:nvPr/>
          </p:nvSpPr>
          <p:spPr bwMode="auto">
            <a:xfrm>
              <a:off x="5472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5556" name="Oval 20"/>
            <p:cNvSpPr>
              <a:spLocks noChangeArrowheads="1"/>
            </p:cNvSpPr>
            <p:nvPr/>
          </p:nvSpPr>
          <p:spPr bwMode="auto">
            <a:xfrm>
              <a:off x="5584" y="1184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5557" name="Oval 21"/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5558" name="Oval 22"/>
            <p:cNvSpPr>
              <a:spLocks noChangeArrowheads="1"/>
            </p:cNvSpPr>
            <p:nvPr/>
          </p:nvSpPr>
          <p:spPr bwMode="auto">
            <a:xfrm>
              <a:off x="5248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5559" name="Oval 23"/>
            <p:cNvSpPr>
              <a:spLocks noChangeArrowheads="1"/>
            </p:cNvSpPr>
            <p:nvPr/>
          </p:nvSpPr>
          <p:spPr bwMode="auto">
            <a:xfrm>
              <a:off x="5360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5560" name="Oval 24"/>
            <p:cNvSpPr>
              <a:spLocks noChangeArrowheads="1"/>
            </p:cNvSpPr>
            <p:nvPr/>
          </p:nvSpPr>
          <p:spPr bwMode="auto">
            <a:xfrm>
              <a:off x="5472" y="1296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5561" name="Oval 25"/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5562" name="Oval 26"/>
            <p:cNvSpPr>
              <a:spLocks noChangeArrowheads="1"/>
            </p:cNvSpPr>
            <p:nvPr/>
          </p:nvSpPr>
          <p:spPr bwMode="auto">
            <a:xfrm>
              <a:off x="5248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5563" name="Oval 27"/>
            <p:cNvSpPr>
              <a:spLocks noChangeArrowheads="1"/>
            </p:cNvSpPr>
            <p:nvPr/>
          </p:nvSpPr>
          <p:spPr bwMode="auto">
            <a:xfrm>
              <a:off x="5360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5564" name="Oval 28"/>
            <p:cNvSpPr>
              <a:spLocks noChangeArrowheads="1"/>
            </p:cNvSpPr>
            <p:nvPr/>
          </p:nvSpPr>
          <p:spPr bwMode="auto">
            <a:xfrm>
              <a:off x="5472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5565" name="Oval 29"/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5566" name="Oval 30"/>
            <p:cNvSpPr>
              <a:spLocks noChangeArrowheads="1"/>
            </p:cNvSpPr>
            <p:nvPr/>
          </p:nvSpPr>
          <p:spPr bwMode="auto">
            <a:xfrm>
              <a:off x="5136" y="1520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5567" name="Oval 31"/>
            <p:cNvSpPr>
              <a:spLocks noChangeArrowheads="1"/>
            </p:cNvSpPr>
            <p:nvPr/>
          </p:nvSpPr>
          <p:spPr bwMode="auto">
            <a:xfrm>
              <a:off x="5248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5568" name="Oval 32"/>
            <p:cNvSpPr>
              <a:spLocks noChangeArrowheads="1"/>
            </p:cNvSpPr>
            <p:nvPr/>
          </p:nvSpPr>
          <p:spPr bwMode="auto">
            <a:xfrm>
              <a:off x="5360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5569" name="Oval 33"/>
            <p:cNvSpPr>
              <a:spLocks noChangeArrowheads="1"/>
            </p:cNvSpPr>
            <p:nvPr/>
          </p:nvSpPr>
          <p:spPr bwMode="auto">
            <a:xfrm>
              <a:off x="5472" y="1520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5570" name="Oval 34"/>
            <p:cNvSpPr>
              <a:spLocks noChangeArrowheads="1"/>
            </p:cNvSpPr>
            <p:nvPr/>
          </p:nvSpPr>
          <p:spPr bwMode="auto">
            <a:xfrm>
              <a:off x="5136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5571" name="Oval 35"/>
            <p:cNvSpPr>
              <a:spLocks noChangeArrowheads="1"/>
            </p:cNvSpPr>
            <p:nvPr/>
          </p:nvSpPr>
          <p:spPr bwMode="auto">
            <a:xfrm>
              <a:off x="5248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5572" name="Oval 36"/>
            <p:cNvSpPr>
              <a:spLocks noChangeArrowheads="1"/>
            </p:cNvSpPr>
            <p:nvPr/>
          </p:nvSpPr>
          <p:spPr bwMode="auto">
            <a:xfrm>
              <a:off x="5360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5573" name="Oval 37"/>
            <p:cNvSpPr>
              <a:spLocks noChangeArrowheads="1"/>
            </p:cNvSpPr>
            <p:nvPr/>
          </p:nvSpPr>
          <p:spPr bwMode="auto">
            <a:xfrm>
              <a:off x="5472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5574" name="Oval 38"/>
            <p:cNvSpPr>
              <a:spLocks noChangeArrowheads="1"/>
            </p:cNvSpPr>
            <p:nvPr/>
          </p:nvSpPr>
          <p:spPr bwMode="auto">
            <a:xfrm>
              <a:off x="5248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5575" name="Oval 39"/>
            <p:cNvSpPr>
              <a:spLocks noChangeArrowheads="1"/>
            </p:cNvSpPr>
            <p:nvPr/>
          </p:nvSpPr>
          <p:spPr bwMode="auto">
            <a:xfrm>
              <a:off x="5472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</p:grpSp>
      <p:sp>
        <p:nvSpPr>
          <p:cNvPr id="65576" name="Line 40"/>
          <p:cNvSpPr>
            <a:spLocks noChangeShapeType="1"/>
          </p:cNvSpPr>
          <p:nvPr/>
        </p:nvSpPr>
        <p:spPr bwMode="auto">
          <a:xfrm>
            <a:off x="457200" y="1524000"/>
            <a:ext cx="75438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350"/>
          </a:p>
        </p:txBody>
      </p:sp>
    </p:spTree>
    <p:extLst>
      <p:ext uri="{BB962C8B-B14F-4D97-AF65-F5344CB8AC3E}">
        <p14:creationId xmlns:p14="http://schemas.microsoft.com/office/powerpoint/2010/main" val="25471445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925" b="1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925" b="1">
          <a:solidFill>
            <a:schemeClr val="tx2"/>
          </a:solidFill>
          <a:latin typeface="Arial" panose="020B0604020202020204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925" b="1">
          <a:solidFill>
            <a:schemeClr val="tx2"/>
          </a:solidFill>
          <a:latin typeface="Arial" panose="020B0604020202020204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925" b="1">
          <a:solidFill>
            <a:schemeClr val="tx2"/>
          </a:solidFill>
          <a:latin typeface="Arial" panose="020B0604020202020204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925" b="1">
          <a:solidFill>
            <a:schemeClr val="tx2"/>
          </a:solidFill>
          <a:latin typeface="Arial" panose="020B0604020202020204" pitchFamily="34" charset="0"/>
        </a:defRPr>
      </a:lvl5pPr>
      <a:lvl6pPr marL="342900" algn="l" rtl="0" eaLnBrk="1" fontAlgn="base" hangingPunct="1">
        <a:spcBef>
          <a:spcPct val="0"/>
        </a:spcBef>
        <a:spcAft>
          <a:spcPct val="0"/>
        </a:spcAft>
        <a:defRPr sz="2925" b="1">
          <a:solidFill>
            <a:schemeClr val="tx2"/>
          </a:solidFill>
          <a:latin typeface="Arial" panose="020B0604020202020204" pitchFamily="34" charset="0"/>
        </a:defRPr>
      </a:lvl6pPr>
      <a:lvl7pPr marL="685800" algn="l" rtl="0" eaLnBrk="1" fontAlgn="base" hangingPunct="1">
        <a:spcBef>
          <a:spcPct val="0"/>
        </a:spcBef>
        <a:spcAft>
          <a:spcPct val="0"/>
        </a:spcAft>
        <a:defRPr sz="2925" b="1">
          <a:solidFill>
            <a:schemeClr val="tx2"/>
          </a:solidFill>
          <a:latin typeface="Arial" panose="020B0604020202020204" pitchFamily="34" charset="0"/>
        </a:defRPr>
      </a:lvl7pPr>
      <a:lvl8pPr marL="1028700" algn="l" rtl="0" eaLnBrk="1" fontAlgn="base" hangingPunct="1">
        <a:spcBef>
          <a:spcPct val="0"/>
        </a:spcBef>
        <a:spcAft>
          <a:spcPct val="0"/>
        </a:spcAft>
        <a:defRPr sz="2925" b="1">
          <a:solidFill>
            <a:schemeClr val="tx2"/>
          </a:solidFill>
          <a:latin typeface="Arial" panose="020B0604020202020204" pitchFamily="34" charset="0"/>
        </a:defRPr>
      </a:lvl8pPr>
      <a:lvl9pPr marL="1371600" algn="l" rtl="0" eaLnBrk="1" fontAlgn="base" hangingPunct="1">
        <a:spcBef>
          <a:spcPct val="0"/>
        </a:spcBef>
        <a:spcAft>
          <a:spcPct val="0"/>
        </a:spcAft>
        <a:defRPr sz="2925" b="1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257175" indent="-257175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anose="05000000000000000000" pitchFamily="2" charset="2"/>
        <a:buChar char="l"/>
        <a:defRPr sz="2250" kern="1200">
          <a:solidFill>
            <a:schemeClr val="tx1"/>
          </a:solidFill>
          <a:latin typeface="+mn-lt"/>
          <a:ea typeface="+mn-ea"/>
          <a:cs typeface="+mn-cs"/>
        </a:defRPr>
      </a:lvl1pPr>
      <a:lvl2pPr marL="519113" indent="-260747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740569" indent="-220266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anose="05000000000000000000" pitchFamily="2" charset="2"/>
        <a:buChar char="l"/>
        <a:defRPr sz="1725" kern="1200">
          <a:solidFill>
            <a:schemeClr val="tx1"/>
          </a:solidFill>
          <a:latin typeface="+mn-lt"/>
          <a:ea typeface="+mn-ea"/>
          <a:cs typeface="+mn-cs"/>
        </a:defRPr>
      </a:lvl3pPr>
      <a:lvl4pPr marL="960835" indent="-219075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anose="05000000000000000000" pitchFamily="2" charset="2"/>
        <a:buChar char="§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198960" indent="-236935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anose="05000000000000000000" pitchFamily="2" charset="2"/>
        <a:buChar char="§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AWS Lambda: </a:t>
            </a:r>
            <a:br>
              <a:rPr lang="en-US" dirty="0"/>
            </a:br>
            <a:r>
              <a:rPr lang="en-US" dirty="0"/>
              <a:t>		</a:t>
            </a:r>
            <a:r>
              <a:rPr dirty="0"/>
              <a:t>Serverless Compute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27DEE4A-FF7D-4109-BE1B-0F2D869915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8AB446-D1A8-5C03-61EC-F1F7775444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Serverless Computing?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A cloud model where the provider manages servers and scaling</a:t>
            </a:r>
          </a:p>
          <a:p>
            <a:pPr marL="0" indent="0">
              <a:buNone/>
            </a:pPr>
            <a:r>
              <a:rPr dirty="0"/>
              <a:t>• Developers focus on code, not infrastructure</a:t>
            </a:r>
          </a:p>
          <a:p>
            <a:pPr marL="0" indent="0">
              <a:buNone/>
            </a:pPr>
            <a:r>
              <a:rPr dirty="0"/>
              <a:t>• Automatically scales based on demand</a:t>
            </a:r>
          </a:p>
          <a:p>
            <a:pPr marL="0" indent="0">
              <a:buNone/>
            </a:pPr>
            <a:r>
              <a:rPr dirty="0"/>
              <a:t>• Pay only for the compute time used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8C7AE6-CB90-D4FF-5A3C-9804B0CEE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Benefits of Serverless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No server management</a:t>
            </a:r>
          </a:p>
          <a:p>
            <a:pPr marL="0" indent="0">
              <a:buNone/>
            </a:pPr>
            <a:r>
              <a:rPr dirty="0"/>
              <a:t>• Automatic scaling</a:t>
            </a:r>
          </a:p>
          <a:p>
            <a:pPr marL="0" indent="0">
              <a:buNone/>
            </a:pPr>
            <a:r>
              <a:rPr dirty="0"/>
              <a:t>• High availability</a:t>
            </a:r>
          </a:p>
          <a:p>
            <a:pPr marL="0" indent="0">
              <a:buNone/>
            </a:pPr>
            <a:r>
              <a:rPr dirty="0"/>
              <a:t>• Pay-per-execution model</a:t>
            </a:r>
          </a:p>
          <a:p>
            <a:pPr marL="0" indent="0">
              <a:buNone/>
            </a:pPr>
            <a:r>
              <a:rPr dirty="0"/>
              <a:t>• Faster time to market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92E650-C613-B62B-BA8E-6CA46D0A3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AWS Lambda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A compute service to run code without provisioning servers</a:t>
            </a:r>
          </a:p>
          <a:p>
            <a:pPr marL="0" indent="0">
              <a:buNone/>
            </a:pPr>
            <a:r>
              <a:rPr dirty="0"/>
              <a:t>• Execute code in response to events</a:t>
            </a:r>
          </a:p>
          <a:p>
            <a:pPr marL="0" indent="0">
              <a:buNone/>
            </a:pPr>
            <a:r>
              <a:rPr dirty="0"/>
              <a:t>• Fully managed by AWS</a:t>
            </a:r>
          </a:p>
          <a:p>
            <a:pPr marL="0" indent="0">
              <a:buNone/>
            </a:pPr>
            <a:r>
              <a:rPr dirty="0"/>
              <a:t>• Scales automatically with workload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22D7D0-FE67-E7EF-4592-5C4A3A5F28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 of AWS Lambda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Supports multiple programming languages</a:t>
            </a:r>
          </a:p>
          <a:p>
            <a:pPr marL="0" indent="0">
              <a:buNone/>
            </a:pPr>
            <a:r>
              <a:rPr dirty="0"/>
              <a:t>• Integrates with 200+ AWS services</a:t>
            </a:r>
          </a:p>
          <a:p>
            <a:pPr marL="0" indent="0">
              <a:buNone/>
            </a:pPr>
            <a:r>
              <a:rPr dirty="0"/>
              <a:t>• Millisecond billing granularity</a:t>
            </a:r>
          </a:p>
          <a:p>
            <a:pPr marL="0" indent="0">
              <a:buNone/>
            </a:pPr>
            <a:r>
              <a:rPr dirty="0"/>
              <a:t>• Built-in fault tolerance</a:t>
            </a:r>
          </a:p>
          <a:p>
            <a:pPr marL="0" indent="0">
              <a:buNone/>
            </a:pPr>
            <a:r>
              <a:rPr dirty="0"/>
              <a:t>• Works with API Gateway, S3, DynamoDB, SNS, etc.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9ABD8E-F174-19AD-BF78-48E525A9F5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Supported Languages and Runtimes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Node.js</a:t>
            </a:r>
          </a:p>
          <a:p>
            <a:pPr marL="0" indent="0">
              <a:buNone/>
            </a:pPr>
            <a:r>
              <a:rPr dirty="0"/>
              <a:t>• Python</a:t>
            </a:r>
          </a:p>
          <a:p>
            <a:pPr marL="0" indent="0">
              <a:buNone/>
            </a:pPr>
            <a:r>
              <a:rPr dirty="0"/>
              <a:t>• Java</a:t>
            </a:r>
          </a:p>
          <a:p>
            <a:pPr marL="0" indent="0">
              <a:buNone/>
            </a:pPr>
            <a:r>
              <a:rPr dirty="0"/>
              <a:t>• Go</a:t>
            </a:r>
          </a:p>
          <a:p>
            <a:pPr marL="0" indent="0">
              <a:buNone/>
            </a:pPr>
            <a:r>
              <a:rPr dirty="0"/>
              <a:t>• C# (.NET Core)</a:t>
            </a:r>
          </a:p>
          <a:p>
            <a:pPr marL="0" indent="0">
              <a:buNone/>
            </a:pPr>
            <a:r>
              <a:rPr dirty="0"/>
              <a:t>• Ruby</a:t>
            </a:r>
          </a:p>
          <a:p>
            <a:pPr marL="0" indent="0">
              <a:buNone/>
            </a:pPr>
            <a:r>
              <a:rPr dirty="0"/>
              <a:t>• Custom runtimes supported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7C063C-9F53-8422-20A3-BB8B64226E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AWS Lambda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Upload your code (function package)</a:t>
            </a:r>
          </a:p>
          <a:p>
            <a:pPr marL="0" indent="0">
              <a:buNone/>
            </a:pPr>
            <a:r>
              <a:rPr dirty="0"/>
              <a:t>• Define a handler (entry point)</a:t>
            </a:r>
          </a:p>
          <a:p>
            <a:pPr marL="0" indent="0">
              <a:buNone/>
            </a:pPr>
            <a:r>
              <a:rPr dirty="0"/>
              <a:t>• Configure triggers (e.g., S3, API Gateway)</a:t>
            </a:r>
          </a:p>
          <a:p>
            <a:pPr marL="0" indent="0">
              <a:buNone/>
            </a:pPr>
            <a:r>
              <a:rPr dirty="0"/>
              <a:t>• AWS runs your code when the event occurs</a:t>
            </a:r>
          </a:p>
          <a:p>
            <a:pPr marL="0" indent="0">
              <a:buNone/>
            </a:pPr>
            <a:r>
              <a:rPr dirty="0"/>
              <a:t>• Scales automatically based on requests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BC1860-919F-FC67-9148-30F6FE3A3C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Lambda Execution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Each function runs in an isolated environment</a:t>
            </a:r>
          </a:p>
          <a:p>
            <a:pPr marL="0" indent="0">
              <a:buNone/>
            </a:pPr>
            <a:r>
              <a:rPr dirty="0"/>
              <a:t>• Temporary compute resources (ephemeral containers)</a:t>
            </a:r>
          </a:p>
          <a:p>
            <a:pPr marL="0" indent="0">
              <a:buNone/>
            </a:pPr>
            <a:r>
              <a:rPr dirty="0"/>
              <a:t>• Cold start vs. warm start behavior</a:t>
            </a:r>
          </a:p>
          <a:p>
            <a:pPr marL="0" indent="0">
              <a:buNone/>
            </a:pPr>
            <a:r>
              <a:rPr dirty="0"/>
              <a:t>• Execution limited by time (max 15 minutes)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A25D4C-25A7-6824-1F3D-8678CB7EEF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Event Sources and Triggers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Triggers activate functions automatically</a:t>
            </a:r>
          </a:p>
          <a:p>
            <a:pPr marL="0" indent="0">
              <a:buNone/>
            </a:pPr>
            <a:r>
              <a:rPr dirty="0"/>
              <a:t>• Examples:</a:t>
            </a:r>
          </a:p>
          <a:p>
            <a:pPr marL="0" indent="0">
              <a:buNone/>
            </a:pPr>
            <a:r>
              <a:rPr dirty="0"/>
              <a:t>   - S3 (file uploads)</a:t>
            </a:r>
          </a:p>
          <a:p>
            <a:pPr marL="0" indent="0">
              <a:buNone/>
            </a:pPr>
            <a:r>
              <a:rPr dirty="0"/>
              <a:t>   - API Gateway (HTTP requests)</a:t>
            </a:r>
          </a:p>
          <a:p>
            <a:pPr marL="0" indent="0">
              <a:buNone/>
            </a:pPr>
            <a:r>
              <a:rPr dirty="0"/>
              <a:t>   - DynamoDB Streams (data changes)</a:t>
            </a:r>
          </a:p>
          <a:p>
            <a:pPr marL="0" indent="0">
              <a:buNone/>
            </a:pPr>
            <a:r>
              <a:rPr dirty="0"/>
              <a:t>   - CloudWatch (scheduled events)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B6C337-5590-9270-AAB7-5F60A29BA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Integrations with AWS Services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S3 – Data processing on file upload</a:t>
            </a:r>
          </a:p>
          <a:p>
            <a:pPr marL="0" indent="0">
              <a:buNone/>
            </a:pPr>
            <a:r>
              <a:rPr dirty="0"/>
              <a:t>• DynamoDB – Stream triggers</a:t>
            </a:r>
          </a:p>
          <a:p>
            <a:pPr marL="0" indent="0">
              <a:buNone/>
            </a:pPr>
            <a:r>
              <a:rPr dirty="0"/>
              <a:t>• API Gateway – Build serverless APIs</a:t>
            </a:r>
          </a:p>
          <a:p>
            <a:pPr marL="0" indent="0">
              <a:buNone/>
            </a:pPr>
            <a:r>
              <a:rPr dirty="0"/>
              <a:t>• SNS/SQS – Asynchronous processing</a:t>
            </a:r>
          </a:p>
          <a:p>
            <a:pPr marL="0" indent="0">
              <a:buNone/>
            </a:pPr>
            <a:r>
              <a:rPr dirty="0"/>
              <a:t>• Step Functions – Orchestrate workflows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166944-5370-4356-8935-F03EBC0DCF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Lambda Layers and Dependencies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Layers allow you to package external libraries</a:t>
            </a:r>
          </a:p>
          <a:p>
            <a:pPr marL="0" indent="0">
              <a:buNone/>
            </a:pPr>
            <a:r>
              <a:rPr dirty="0"/>
              <a:t>• Share common dependencies across multiple functions</a:t>
            </a:r>
          </a:p>
          <a:p>
            <a:pPr marL="0" indent="0">
              <a:buNone/>
            </a:pPr>
            <a:r>
              <a:rPr dirty="0"/>
              <a:t>• Reduces deployment package size</a:t>
            </a:r>
          </a:p>
          <a:p>
            <a:pPr marL="0" indent="0">
              <a:buNone/>
            </a:pPr>
            <a:r>
              <a:rPr dirty="0"/>
              <a:t>• Promotes code reuse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83EE73-D2E5-3FD6-D3C1-5D92182CF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Lambda Function Configuration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Memory allocation (128 MB – 10 GB)</a:t>
            </a:r>
          </a:p>
          <a:p>
            <a:pPr marL="0" indent="0">
              <a:buNone/>
            </a:pPr>
            <a:r>
              <a:rPr dirty="0"/>
              <a:t>• Timeout settings (up to 15 minutes)</a:t>
            </a:r>
          </a:p>
          <a:p>
            <a:pPr marL="0" indent="0">
              <a:buNone/>
            </a:pPr>
            <a:r>
              <a:rPr dirty="0"/>
              <a:t>• Environment variables</a:t>
            </a:r>
          </a:p>
          <a:p>
            <a:pPr marL="0" indent="0">
              <a:buNone/>
            </a:pPr>
            <a:r>
              <a:rPr dirty="0"/>
              <a:t>• VPC configuration for private network access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E4BB3A-7A79-DF50-E6F7-31A2C3AE7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 and IAM Roles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Each Lambda runs with an IAM execution role</a:t>
            </a:r>
          </a:p>
          <a:p>
            <a:pPr marL="0" indent="0">
              <a:buNone/>
            </a:pPr>
            <a:r>
              <a:rPr dirty="0"/>
              <a:t>• Grants permissions to access AWS resources</a:t>
            </a:r>
          </a:p>
          <a:p>
            <a:pPr marL="0" indent="0">
              <a:buNone/>
            </a:pPr>
            <a:r>
              <a:rPr dirty="0"/>
              <a:t>• Use least privilege principle</a:t>
            </a:r>
          </a:p>
          <a:p>
            <a:pPr marL="0" indent="0">
              <a:buNone/>
            </a:pPr>
            <a:r>
              <a:rPr dirty="0"/>
              <a:t>• Support for encryption (KMS)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3D45D1-FCE3-D991-32FE-105363C55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Versioning and Aliases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Versioning allows deployment of immutable function versions</a:t>
            </a:r>
          </a:p>
          <a:p>
            <a:pPr marL="0" indent="0">
              <a:buNone/>
            </a:pPr>
            <a:r>
              <a:rPr dirty="0"/>
              <a:t>• Aliases act as pointers to versions (e.g., dev, test, prod)</a:t>
            </a:r>
          </a:p>
          <a:p>
            <a:pPr marL="0" indent="0">
              <a:buNone/>
            </a:pPr>
            <a:r>
              <a:rPr dirty="0"/>
              <a:t>• Enables safe blue/green deployments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50A468-F105-80AA-48F4-86230B2FB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Monitoring and Logging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Integrated with Amazon CloudWatch</a:t>
            </a:r>
          </a:p>
          <a:p>
            <a:pPr marL="0" indent="0">
              <a:buNone/>
            </a:pPr>
            <a:r>
              <a:rPr dirty="0"/>
              <a:t>• View metrics like duration, invocations, and errors</a:t>
            </a:r>
          </a:p>
          <a:p>
            <a:pPr marL="0" indent="0">
              <a:buNone/>
            </a:pPr>
            <a:r>
              <a:rPr dirty="0"/>
              <a:t>• Centralized log collection via CloudWatch Logs</a:t>
            </a:r>
          </a:p>
          <a:p>
            <a:pPr marL="0" indent="0">
              <a:buNone/>
            </a:pPr>
            <a:r>
              <a:rPr dirty="0"/>
              <a:t>• Set alarms for performance and cost tracking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4F67FA-2398-93F3-2944-05B4DAC105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Error Handling and Retries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Automatic retries for asynchronous invocations</a:t>
            </a:r>
          </a:p>
          <a:p>
            <a:pPr marL="0" indent="0">
              <a:buNone/>
            </a:pPr>
            <a:r>
              <a:rPr dirty="0"/>
              <a:t>• Dead-letter queues (DLQs) for failed events</a:t>
            </a:r>
          </a:p>
          <a:p>
            <a:pPr marL="0" indent="0">
              <a:buNone/>
            </a:pPr>
            <a:r>
              <a:rPr dirty="0"/>
              <a:t>• Use try-catch in synchronous calls</a:t>
            </a:r>
          </a:p>
          <a:p>
            <a:pPr marL="0" indent="0">
              <a:buNone/>
            </a:pPr>
            <a:r>
              <a:rPr dirty="0"/>
              <a:t>• Monitor with CloudWatch for error alerts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764197-FEE7-149F-2C1C-3537759F99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Performance Optimization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Minimize cold starts (use provisioned concurrency)</a:t>
            </a:r>
          </a:p>
          <a:p>
            <a:pPr marL="0" indent="0">
              <a:buNone/>
            </a:pPr>
            <a:r>
              <a:rPr dirty="0"/>
              <a:t>• Keep deployment package small</a:t>
            </a:r>
          </a:p>
          <a:p>
            <a:pPr marL="0" indent="0">
              <a:buNone/>
            </a:pPr>
            <a:r>
              <a:rPr dirty="0"/>
              <a:t>• Reuse execution context</a:t>
            </a:r>
          </a:p>
          <a:p>
            <a:pPr marL="0" indent="0">
              <a:buNone/>
            </a:pPr>
            <a:r>
              <a:rPr dirty="0"/>
              <a:t>• Optimize memory and timeout configurations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04AF42-1154-AC72-F4D2-977501E154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Write idempotent functions</a:t>
            </a:r>
          </a:p>
          <a:p>
            <a:pPr marL="0" indent="0">
              <a:buNone/>
            </a:pPr>
            <a:r>
              <a:rPr dirty="0"/>
              <a:t>• Use environment variables for configuration</a:t>
            </a:r>
          </a:p>
          <a:p>
            <a:pPr marL="0" indent="0">
              <a:buNone/>
            </a:pPr>
            <a:r>
              <a:rPr dirty="0"/>
              <a:t>• Implement proper logging</a:t>
            </a:r>
          </a:p>
          <a:p>
            <a:pPr marL="0" indent="0">
              <a:buNone/>
            </a:pPr>
            <a:r>
              <a:rPr dirty="0"/>
              <a:t>• Keep functions single-purpose</a:t>
            </a:r>
          </a:p>
          <a:p>
            <a:pPr marL="0" indent="0">
              <a:buNone/>
            </a:pPr>
            <a:r>
              <a:rPr dirty="0"/>
              <a:t>• Manage dependencies efficiently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BD7FEB-EA7F-31D5-BAD9-53C822C2D6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 Use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Image and video processing</a:t>
            </a:r>
          </a:p>
          <a:p>
            <a:pPr marL="0" indent="0">
              <a:buNone/>
            </a:pPr>
            <a:r>
              <a:rPr dirty="0"/>
              <a:t>• Serverless web APIs</a:t>
            </a:r>
          </a:p>
          <a:p>
            <a:pPr marL="0" indent="0">
              <a:buNone/>
            </a:pPr>
            <a:r>
              <a:rPr dirty="0"/>
              <a:t>• Data transformation pipelines</a:t>
            </a:r>
          </a:p>
          <a:p>
            <a:pPr marL="0" indent="0">
              <a:buNone/>
            </a:pPr>
            <a:r>
              <a:rPr dirty="0"/>
              <a:t>• Chatbots and automation</a:t>
            </a:r>
          </a:p>
          <a:p>
            <a:pPr marL="0" indent="0">
              <a:buNone/>
            </a:pPr>
            <a:r>
              <a:rPr dirty="0"/>
              <a:t>• IoT event processing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38237F-5B81-1155-54AA-D6AB1632CE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Creating a Lambda Function (Console)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1. Open AWS Console → Lambda</a:t>
            </a:r>
          </a:p>
          <a:p>
            <a:pPr marL="0" indent="0">
              <a:buNone/>
            </a:pPr>
            <a:r>
              <a:rPr dirty="0"/>
              <a:t>2. Click 'Create function'</a:t>
            </a:r>
          </a:p>
          <a:p>
            <a:pPr marL="0" indent="0">
              <a:buNone/>
            </a:pPr>
            <a:r>
              <a:rPr dirty="0"/>
              <a:t>3. Choose 'Author from scratch'</a:t>
            </a:r>
          </a:p>
          <a:p>
            <a:pPr marL="0" indent="0">
              <a:buNone/>
            </a:pPr>
            <a:r>
              <a:rPr dirty="0"/>
              <a:t>4. Configure name, runtime, and role</a:t>
            </a:r>
          </a:p>
          <a:p>
            <a:pPr marL="0" indent="0">
              <a:buNone/>
            </a:pPr>
            <a:r>
              <a:rPr dirty="0"/>
              <a:t>5. Write or upload code</a:t>
            </a:r>
          </a:p>
          <a:p>
            <a:pPr marL="0" indent="0">
              <a:buNone/>
            </a:pPr>
            <a:r>
              <a:rPr dirty="0"/>
              <a:t>6. Add trigger and test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4DC7F0-2EF3-DA62-197C-842E7287D0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Creating a Lambda Function (CLI)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1. Create deployment package: zip your code</a:t>
            </a:r>
          </a:p>
          <a:p>
            <a:pPr marL="0" indent="0">
              <a:buNone/>
            </a:pPr>
            <a:r>
              <a:rPr dirty="0"/>
              <a:t>2. Run:</a:t>
            </a:r>
          </a:p>
          <a:p>
            <a:pPr marL="0" indent="0">
              <a:buNone/>
            </a:pPr>
            <a:r>
              <a:rPr dirty="0"/>
              <a:t>   </a:t>
            </a:r>
            <a:r>
              <a:rPr dirty="0" err="1"/>
              <a:t>aws</a:t>
            </a:r>
            <a:r>
              <a:rPr dirty="0"/>
              <a:t> lambda create-function --function-name </a:t>
            </a:r>
            <a:r>
              <a:rPr dirty="0" err="1"/>
              <a:t>MyFunction</a:t>
            </a:r>
            <a:r>
              <a:rPr dirty="0"/>
              <a:t> \</a:t>
            </a:r>
          </a:p>
          <a:p>
            <a:pPr marL="0" indent="0">
              <a:buNone/>
            </a:pPr>
            <a:r>
              <a:rPr dirty="0"/>
              <a:t>   --zip-file fileb://function.zip --handler </a:t>
            </a:r>
            <a:r>
              <a:rPr dirty="0" err="1"/>
              <a:t>my.handler</a:t>
            </a:r>
            <a:r>
              <a:rPr dirty="0"/>
              <a:t> \</a:t>
            </a:r>
          </a:p>
          <a:p>
            <a:pPr marL="0" indent="0">
              <a:buNone/>
            </a:pPr>
            <a:r>
              <a:rPr dirty="0"/>
              <a:t>   --runtime java17 --role </a:t>
            </a:r>
            <a:r>
              <a:rPr dirty="0" err="1"/>
              <a:t>arn:aws:iam</a:t>
            </a:r>
            <a:r>
              <a:rPr dirty="0"/>
              <a:t>::123456789:role/lambda-role</a:t>
            </a:r>
          </a:p>
          <a:p>
            <a:pPr marL="0" indent="0">
              <a:buNone/>
            </a:pPr>
            <a:r>
              <a:rPr dirty="0"/>
              <a:t>3. Invoke function via CLI or event trigger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DEDE5E-D73A-FA63-E0DF-5D0C2392BB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Java Lambda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AWS Lambda supports Java 8, 11, and 17</a:t>
            </a:r>
          </a:p>
          <a:p>
            <a:pPr marL="0" indent="0">
              <a:buNone/>
            </a:pPr>
            <a:r>
              <a:rPr dirty="0"/>
              <a:t>• Java handler implements </a:t>
            </a:r>
            <a:r>
              <a:rPr dirty="0" err="1"/>
              <a:t>RequestHandler</a:t>
            </a:r>
            <a:r>
              <a:rPr dirty="0"/>
              <a:t> or </a:t>
            </a:r>
            <a:r>
              <a:rPr dirty="0" err="1"/>
              <a:t>RequestStreamHandler</a:t>
            </a:r>
            <a:endParaRPr dirty="0"/>
          </a:p>
          <a:p>
            <a:pPr marL="0" indent="0">
              <a:buNone/>
            </a:pPr>
            <a:r>
              <a:rPr dirty="0"/>
              <a:t>• Input and output can be POJOs or strings</a:t>
            </a:r>
          </a:p>
          <a:p>
            <a:pPr marL="0" indent="0">
              <a:buNone/>
            </a:pPr>
            <a:r>
              <a:rPr dirty="0"/>
              <a:t>• Use AWS SDK within the function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72B685-0E9D-9FCB-0B34-BFEFE61B44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Example: AWS Lambda Function in Java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19263"/>
            <a:ext cx="8545286" cy="4411662"/>
          </a:xfrm>
        </p:spPr>
        <p:txBody>
          <a:bodyPr/>
          <a:lstStyle/>
          <a:p>
            <a:pPr marL="0" indent="0">
              <a:buNone/>
            </a:pPr>
            <a:r>
              <a:rPr sz="2000" dirty="0"/>
              <a:t>package </a:t>
            </a:r>
            <a:r>
              <a:rPr sz="2000" dirty="0" err="1"/>
              <a:t>com.example.lambda</a:t>
            </a:r>
            <a:r>
              <a:rPr sz="2000" dirty="0"/>
              <a:t>;</a:t>
            </a:r>
          </a:p>
          <a:p>
            <a:pPr marL="0" indent="0">
              <a:buNone/>
            </a:pPr>
            <a:endParaRPr sz="2000" dirty="0"/>
          </a:p>
          <a:p>
            <a:pPr marL="0" indent="0">
              <a:buNone/>
            </a:pPr>
            <a:r>
              <a:rPr sz="2000" dirty="0"/>
              <a:t>import </a:t>
            </a:r>
            <a:r>
              <a:rPr sz="2000" dirty="0" err="1"/>
              <a:t>com.amazonaws.services.lambda.runtime.Context</a:t>
            </a:r>
            <a:r>
              <a:rPr sz="2000" dirty="0"/>
              <a:t>;</a:t>
            </a:r>
          </a:p>
          <a:p>
            <a:pPr marL="0" indent="0">
              <a:buNone/>
            </a:pPr>
            <a:r>
              <a:rPr sz="2000" dirty="0"/>
              <a:t>import </a:t>
            </a:r>
            <a:r>
              <a:rPr sz="2000" dirty="0" err="1"/>
              <a:t>com.amazonaws.services.lambda.runtime.RequestHandler</a:t>
            </a:r>
            <a:r>
              <a:rPr sz="2000" dirty="0"/>
              <a:t>;</a:t>
            </a:r>
          </a:p>
          <a:p>
            <a:pPr marL="0" indent="0">
              <a:buNone/>
            </a:pPr>
            <a:endParaRPr sz="2000" dirty="0"/>
          </a:p>
          <a:p>
            <a:pPr marL="0" indent="0">
              <a:buNone/>
            </a:pPr>
            <a:r>
              <a:rPr sz="2000" dirty="0"/>
              <a:t>public class </a:t>
            </a:r>
            <a:r>
              <a:rPr sz="2000" dirty="0" err="1"/>
              <a:t>HelloLambda</a:t>
            </a:r>
            <a:r>
              <a:rPr sz="2000" dirty="0"/>
              <a:t> implements </a:t>
            </a:r>
            <a:r>
              <a:rPr sz="2000" dirty="0" err="1"/>
              <a:t>RequestHandler</a:t>
            </a:r>
            <a:r>
              <a:rPr sz="2000" dirty="0"/>
              <a:t>&lt;String, String&gt; {</a:t>
            </a:r>
          </a:p>
          <a:p>
            <a:pPr marL="0" indent="0">
              <a:buNone/>
            </a:pPr>
            <a:r>
              <a:rPr sz="2000" dirty="0"/>
              <a:t>    @Override</a:t>
            </a:r>
          </a:p>
          <a:p>
            <a:pPr marL="0" indent="0">
              <a:buNone/>
            </a:pPr>
            <a:r>
              <a:rPr sz="2000" dirty="0"/>
              <a:t>    public String </a:t>
            </a:r>
            <a:r>
              <a:rPr sz="2000" dirty="0" err="1"/>
              <a:t>handleRequest</a:t>
            </a:r>
            <a:r>
              <a:rPr sz="2000" dirty="0"/>
              <a:t>(String input, Context context) {</a:t>
            </a:r>
          </a:p>
          <a:p>
            <a:pPr marL="0" indent="0">
              <a:buNone/>
            </a:pPr>
            <a:r>
              <a:rPr sz="2000" dirty="0"/>
              <a:t>        </a:t>
            </a:r>
            <a:r>
              <a:rPr sz="2000" dirty="0" err="1"/>
              <a:t>context.getLogger</a:t>
            </a:r>
            <a:r>
              <a:rPr sz="2000" dirty="0"/>
              <a:t>().log("Input: " + input);</a:t>
            </a:r>
          </a:p>
          <a:p>
            <a:pPr marL="0" indent="0">
              <a:buNone/>
            </a:pPr>
            <a:r>
              <a:rPr sz="2000" dirty="0"/>
              <a:t>        return "Hello, " + input + " from AWS Lambda!";</a:t>
            </a:r>
          </a:p>
          <a:p>
            <a:pPr marL="0" indent="0">
              <a:buNone/>
            </a:pPr>
            <a:r>
              <a:rPr sz="2000" dirty="0"/>
              <a:t>    }</a:t>
            </a:r>
          </a:p>
          <a:p>
            <a:pPr marL="0" indent="0">
              <a:buNone/>
            </a:pPr>
            <a:r>
              <a:rPr sz="2000" dirty="0"/>
              <a:t>}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5D60D8-4E35-EFD3-BA85-D9A0AEAB78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 Flow Explanation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Package as .jar file using Maven or Gradle</a:t>
            </a:r>
          </a:p>
          <a:p>
            <a:pPr marL="0" indent="0">
              <a:buNone/>
            </a:pPr>
            <a:r>
              <a:rPr dirty="0"/>
              <a:t>• Upload to Lambda console</a:t>
            </a:r>
          </a:p>
          <a:p>
            <a:pPr marL="0" indent="0">
              <a:buNone/>
            </a:pPr>
            <a:r>
              <a:rPr dirty="0"/>
              <a:t>• Set handler: </a:t>
            </a:r>
            <a:r>
              <a:rPr dirty="0" err="1"/>
              <a:t>com.example.lambda.HelloLambda</a:t>
            </a:r>
            <a:r>
              <a:rPr dirty="0"/>
              <a:t>::</a:t>
            </a:r>
            <a:r>
              <a:rPr dirty="0" err="1"/>
              <a:t>handleRequest</a:t>
            </a:r>
            <a:endParaRPr dirty="0"/>
          </a:p>
          <a:p>
            <a:pPr marL="0" indent="0">
              <a:buNone/>
            </a:pPr>
            <a:r>
              <a:rPr dirty="0"/>
              <a:t>• Test with input 'World'</a:t>
            </a:r>
          </a:p>
          <a:p>
            <a:pPr marL="0" indent="0">
              <a:buNone/>
            </a:pPr>
            <a:r>
              <a:rPr dirty="0"/>
              <a:t>• Output → Hello, World from AWS Lambda!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F0CE5C-B5C6-434F-C5A1-8FCE87E45F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earners Point">
  <a:themeElements>
    <a:clrScheme name="1_Network 10">
      <a:dk1>
        <a:srgbClr val="000000"/>
      </a:dk1>
      <a:lt1>
        <a:srgbClr val="FFFFFF"/>
      </a:lt1>
      <a:dk2>
        <a:srgbClr val="330066"/>
      </a:dk2>
      <a:lt2>
        <a:srgbClr val="808080"/>
      </a:lt2>
      <a:accent1>
        <a:srgbClr val="CCCC00"/>
      </a:accent1>
      <a:accent2>
        <a:srgbClr val="669999"/>
      </a:accent2>
      <a:accent3>
        <a:srgbClr val="FFFFFF"/>
      </a:accent3>
      <a:accent4>
        <a:srgbClr val="000000"/>
      </a:accent4>
      <a:accent5>
        <a:srgbClr val="E2E2AA"/>
      </a:accent5>
      <a:accent6>
        <a:srgbClr val="5C8A8A"/>
      </a:accent6>
      <a:hlink>
        <a:srgbClr val="7E9CE8"/>
      </a:hlink>
      <a:folHlink>
        <a:srgbClr val="D8D8EC"/>
      </a:folHlink>
    </a:clrScheme>
    <a:fontScheme name="1_Network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I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I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1_Network 1">
        <a:dk1>
          <a:srgbClr val="4F747B"/>
        </a:dk1>
        <a:lt1>
          <a:srgbClr val="FFFFFF"/>
        </a:lt1>
        <a:dk2>
          <a:srgbClr val="000000"/>
        </a:dk2>
        <a:lt2>
          <a:srgbClr val="C0C0C0"/>
        </a:lt2>
        <a:accent1>
          <a:srgbClr val="859868"/>
        </a:accent1>
        <a:accent2>
          <a:srgbClr val="5F5F5F"/>
        </a:accent2>
        <a:accent3>
          <a:srgbClr val="AAAAAA"/>
        </a:accent3>
        <a:accent4>
          <a:srgbClr val="DADADA"/>
        </a:accent4>
        <a:accent5>
          <a:srgbClr val="C2CAB9"/>
        </a:accent5>
        <a:accent6>
          <a:srgbClr val="555555"/>
        </a:accent6>
        <a:hlink>
          <a:srgbClr val="5F5F5F"/>
        </a:hlink>
        <a:folHlink>
          <a:srgbClr val="BA121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2">
        <a:dk1>
          <a:srgbClr val="3C0000"/>
        </a:dk1>
        <a:lt1>
          <a:srgbClr val="FFFFFF"/>
        </a:lt1>
        <a:dk2>
          <a:srgbClr val="4D0B0B"/>
        </a:dk2>
        <a:lt2>
          <a:srgbClr val="FFFFFF"/>
        </a:lt2>
        <a:accent1>
          <a:srgbClr val="666633"/>
        </a:accent1>
        <a:accent2>
          <a:srgbClr val="CC3300"/>
        </a:accent2>
        <a:accent3>
          <a:srgbClr val="B2AAAA"/>
        </a:accent3>
        <a:accent4>
          <a:srgbClr val="DADADA"/>
        </a:accent4>
        <a:accent5>
          <a:srgbClr val="B8B8AD"/>
        </a:accent5>
        <a:accent6>
          <a:srgbClr val="B92D00"/>
        </a:accent6>
        <a:hlink>
          <a:srgbClr val="CC9900"/>
        </a:hlink>
        <a:folHlink>
          <a:srgbClr val="CCCC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3">
        <a:dk1>
          <a:srgbClr val="666699"/>
        </a:dk1>
        <a:lt1>
          <a:srgbClr val="FFFFFF"/>
        </a:lt1>
        <a:dk2>
          <a:srgbClr val="15192B"/>
        </a:dk2>
        <a:lt2>
          <a:srgbClr val="CCCCFF"/>
        </a:lt2>
        <a:accent1>
          <a:srgbClr val="4F893D"/>
        </a:accent1>
        <a:accent2>
          <a:srgbClr val="666699"/>
        </a:accent2>
        <a:accent3>
          <a:srgbClr val="AAABAC"/>
        </a:accent3>
        <a:accent4>
          <a:srgbClr val="DADADA"/>
        </a:accent4>
        <a:accent5>
          <a:srgbClr val="B2C4AF"/>
        </a:accent5>
        <a:accent6>
          <a:srgbClr val="5C5C8A"/>
        </a:accent6>
        <a:hlink>
          <a:srgbClr val="CC9900"/>
        </a:hlink>
        <a:folHlink>
          <a:srgbClr val="4837C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4">
        <a:dk1>
          <a:srgbClr val="666699"/>
        </a:dk1>
        <a:lt1>
          <a:srgbClr val="FFFFFF"/>
        </a:lt1>
        <a:dk2>
          <a:srgbClr val="86001A"/>
        </a:dk2>
        <a:lt2>
          <a:srgbClr val="CCCC66"/>
        </a:lt2>
        <a:accent1>
          <a:srgbClr val="FF3300"/>
        </a:accent1>
        <a:accent2>
          <a:srgbClr val="FF6600"/>
        </a:accent2>
        <a:accent3>
          <a:srgbClr val="C3AAAB"/>
        </a:accent3>
        <a:accent4>
          <a:srgbClr val="DADADA"/>
        </a:accent4>
        <a:accent5>
          <a:srgbClr val="FFADAA"/>
        </a:accent5>
        <a:accent6>
          <a:srgbClr val="E75C00"/>
        </a:accent6>
        <a:hlink>
          <a:srgbClr val="CC9900"/>
        </a:hlink>
        <a:folHlink>
          <a:srgbClr val="FF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5">
        <a:dk1>
          <a:srgbClr val="666699"/>
        </a:dk1>
        <a:lt1>
          <a:srgbClr val="FFFFFF"/>
        </a:lt1>
        <a:dk2>
          <a:srgbClr val="000054"/>
        </a:dk2>
        <a:lt2>
          <a:srgbClr val="FFFFFF"/>
        </a:lt2>
        <a:accent1>
          <a:srgbClr val="3333FF"/>
        </a:accent1>
        <a:accent2>
          <a:srgbClr val="006699"/>
        </a:accent2>
        <a:accent3>
          <a:srgbClr val="AAAAB3"/>
        </a:accent3>
        <a:accent4>
          <a:srgbClr val="DADADA"/>
        </a:accent4>
        <a:accent5>
          <a:srgbClr val="ADADFF"/>
        </a:accent5>
        <a:accent6>
          <a:srgbClr val="005C8A"/>
        </a:accent6>
        <a:hlink>
          <a:srgbClr val="669900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6">
        <a:dk1>
          <a:srgbClr val="808080"/>
        </a:dk1>
        <a:lt1>
          <a:srgbClr val="FFFFFF"/>
        </a:lt1>
        <a:dk2>
          <a:srgbClr val="30054B"/>
        </a:dk2>
        <a:lt2>
          <a:srgbClr val="FFFFFF"/>
        </a:lt2>
        <a:accent1>
          <a:srgbClr val="797B9B"/>
        </a:accent1>
        <a:accent2>
          <a:srgbClr val="6B4FB1"/>
        </a:accent2>
        <a:accent3>
          <a:srgbClr val="ADAAB1"/>
        </a:accent3>
        <a:accent4>
          <a:srgbClr val="DADADA"/>
        </a:accent4>
        <a:accent5>
          <a:srgbClr val="BEBFCB"/>
        </a:accent5>
        <a:accent6>
          <a:srgbClr val="6047A0"/>
        </a:accent6>
        <a:hlink>
          <a:srgbClr val="7AACCE"/>
        </a:hlink>
        <a:folHlink>
          <a:srgbClr val="D8D8E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7">
        <a:dk1>
          <a:srgbClr val="808080"/>
        </a:dk1>
        <a:lt1>
          <a:srgbClr val="FFFFCC"/>
        </a:lt1>
        <a:dk2>
          <a:srgbClr val="29527B"/>
        </a:dk2>
        <a:lt2>
          <a:srgbClr val="FFFFFF"/>
        </a:lt2>
        <a:accent1>
          <a:srgbClr val="CCCC00"/>
        </a:accent1>
        <a:accent2>
          <a:srgbClr val="669999"/>
        </a:accent2>
        <a:accent3>
          <a:srgbClr val="ACB3BF"/>
        </a:accent3>
        <a:accent4>
          <a:srgbClr val="DADAAE"/>
        </a:accent4>
        <a:accent5>
          <a:srgbClr val="E2E2AA"/>
        </a:accent5>
        <a:accent6>
          <a:srgbClr val="5C8A8A"/>
        </a:accent6>
        <a:hlink>
          <a:srgbClr val="D8D8EC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8">
        <a:dk1>
          <a:srgbClr val="666699"/>
        </a:dk1>
        <a:lt1>
          <a:srgbClr val="FFFFFF"/>
        </a:lt1>
        <a:dk2>
          <a:srgbClr val="476949"/>
        </a:dk2>
        <a:lt2>
          <a:srgbClr val="FFFFFF"/>
        </a:lt2>
        <a:accent1>
          <a:srgbClr val="CC6600"/>
        </a:accent1>
        <a:accent2>
          <a:srgbClr val="CC9900"/>
        </a:accent2>
        <a:accent3>
          <a:srgbClr val="B1B9B1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45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9">
        <a:dk1>
          <a:srgbClr val="000000"/>
        </a:dk1>
        <a:lt1>
          <a:srgbClr val="FFFFFF"/>
        </a:lt1>
        <a:dk2>
          <a:srgbClr val="7C1302"/>
        </a:dk2>
        <a:lt2>
          <a:srgbClr val="CC9900"/>
        </a:lt2>
        <a:accent1>
          <a:srgbClr val="CC9900"/>
        </a:accent1>
        <a:accent2>
          <a:srgbClr val="CC3300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B92D00"/>
        </a:accent6>
        <a:hlink>
          <a:srgbClr val="80808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Network 10">
        <a:dk1>
          <a:srgbClr val="000000"/>
        </a:dk1>
        <a:lt1>
          <a:srgbClr val="FFFFFF"/>
        </a:lt1>
        <a:dk2>
          <a:srgbClr val="330066"/>
        </a:dk2>
        <a:lt2>
          <a:srgbClr val="808080"/>
        </a:lt2>
        <a:accent1>
          <a:srgbClr val="CCCC00"/>
        </a:accent1>
        <a:accent2>
          <a:srgbClr val="669999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5C8A8A"/>
        </a:accent6>
        <a:hlink>
          <a:srgbClr val="7E9CE8"/>
        </a:hlink>
        <a:folHlink>
          <a:srgbClr val="D8D8E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Learners Point" id="{5ABB7BE2-076F-42C1-9907-FD58862889C1}" vid="{2565D177-60C2-4381-BEC4-E0C09BB79CB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Learners Point</Template>
  <TotalTime>6</TotalTime>
  <Words>916</Words>
  <Application>Microsoft Office PowerPoint</Application>
  <PresentationFormat>On-screen Show (4:3)</PresentationFormat>
  <Paragraphs>163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Aptos</vt:lpstr>
      <vt:lpstr>Arial</vt:lpstr>
      <vt:lpstr>Wingdings</vt:lpstr>
      <vt:lpstr>Learners Point</vt:lpstr>
      <vt:lpstr>AWS Lambda:    Serverless Compute</vt:lpstr>
      <vt:lpstr>What is Serverless Computing?</vt:lpstr>
      <vt:lpstr>Benefits of Serverless Architecture</vt:lpstr>
      <vt:lpstr>Introduction to AWS Lambda</vt:lpstr>
      <vt:lpstr>Key Features of AWS Lambda</vt:lpstr>
      <vt:lpstr>Supported Languages and Runtimes</vt:lpstr>
      <vt:lpstr>How AWS Lambda Works</vt:lpstr>
      <vt:lpstr>Lambda Execution Model</vt:lpstr>
      <vt:lpstr>Event Sources and Triggers</vt:lpstr>
      <vt:lpstr>Integrations with AWS Services</vt:lpstr>
      <vt:lpstr>Lambda Layers and Dependencies</vt:lpstr>
      <vt:lpstr>Lambda Function Configuration</vt:lpstr>
      <vt:lpstr>Security and IAM Roles</vt:lpstr>
      <vt:lpstr>Versioning and Aliases</vt:lpstr>
      <vt:lpstr>Monitoring and Logging</vt:lpstr>
      <vt:lpstr>Error Handling and Retries</vt:lpstr>
      <vt:lpstr>Performance Optimization</vt:lpstr>
      <vt:lpstr>Best Practices</vt:lpstr>
      <vt:lpstr>Common Use Cases</vt:lpstr>
      <vt:lpstr>Creating a Lambda Function (Console)</vt:lpstr>
      <vt:lpstr>Creating a Lambda Function (CLI)</vt:lpstr>
      <vt:lpstr>Java Lambda Overview</vt:lpstr>
      <vt:lpstr>Example: AWS Lambda Function in Java</vt:lpstr>
      <vt:lpstr>Demo Flow Explanation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Jasdhir Singh</cp:lastModifiedBy>
  <cp:revision>5</cp:revision>
  <dcterms:created xsi:type="dcterms:W3CDTF">2013-01-27T09:14:16Z</dcterms:created>
  <dcterms:modified xsi:type="dcterms:W3CDTF">2025-10-14T07:34:09Z</dcterms:modified>
  <cp:category/>
</cp:coreProperties>
</file>