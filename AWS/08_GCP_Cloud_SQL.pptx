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4"/>
  </p:notes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</p:sldIdLst>
  <p:sldSz cx="9144000" cy="6858000" type="screen4x3"/>
  <p:notesSz cx="6858000" cy="9144000"/>
  <p:defaultTextStyle>
    <a:defPPr>
      <a:defRPr lang="en-I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D6AB39-92F8-4B43-BDD5-3357D5509BDA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80CF82-FEF6-4FDB-A6DE-D3F8BD8BAB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8374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Line 2"/>
          <p:cNvSpPr>
            <a:spLocks noChangeShapeType="1"/>
          </p:cNvSpPr>
          <p:nvPr/>
        </p:nvSpPr>
        <p:spPr bwMode="auto">
          <a:xfrm>
            <a:off x="7315200" y="1066800"/>
            <a:ext cx="0" cy="17526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/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762000" y="457200"/>
            <a:ext cx="6389688" cy="2133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6656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</p:spPr>
        <p:txBody>
          <a:bodyPr/>
          <a:lstStyle>
            <a:lvl1pPr marL="0" indent="0" algn="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66565" name="Rectangle 5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fld id="{FF5A12ED-5DC8-44DB-AC17-E3383E95E2FB}" type="datetime1">
              <a:rPr lang="en-US" smtClean="0"/>
              <a:t>10/14/2025</a:t>
            </a:fld>
            <a:endParaRPr lang="en-US"/>
          </a:p>
        </p:txBody>
      </p:sp>
      <p:sp>
        <p:nvSpPr>
          <p:cNvPr id="66566" name="Rectangle 6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6567" name="Rectangle 7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6568" name="Line 8"/>
          <p:cNvSpPr>
            <a:spLocks noChangeShapeType="1"/>
          </p:cNvSpPr>
          <p:nvPr/>
        </p:nvSpPr>
        <p:spPr bwMode="auto">
          <a:xfrm>
            <a:off x="838200" y="2819400"/>
            <a:ext cx="6477000" cy="0"/>
          </a:xfrm>
          <a:prstGeom prst="line">
            <a:avLst/>
          </a:prstGeom>
          <a:noFill/>
          <a:ln w="63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/>
          </a:p>
        </p:txBody>
      </p:sp>
      <p:grpSp>
        <p:nvGrpSpPr>
          <p:cNvPr id="66569" name="Group 9" descr="decorative graphic made up of dots"/>
          <p:cNvGrpSpPr>
            <a:grpSpLocks/>
          </p:cNvGrpSpPr>
          <p:nvPr/>
        </p:nvGrpSpPr>
        <p:grpSpPr bwMode="auto">
          <a:xfrm>
            <a:off x="7467601" y="1219200"/>
            <a:ext cx="792163" cy="1295400"/>
            <a:chOff x="5136" y="960"/>
            <a:chExt cx="528" cy="864"/>
          </a:xfrm>
        </p:grpSpPr>
        <p:sp>
          <p:nvSpPr>
            <p:cNvPr id="66570" name="Oval 10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71" name="Oval 11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72" name="Oval 12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73" name="Oval 13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74" name="Oval 14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75" name="Oval 15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76" name="Oval 16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77" name="Oval 17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78" name="Oval 18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79" name="Oval 19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80" name="Oval 20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81" name="Oval 21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82" name="Oval 22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83" name="Oval 23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84" name="Oval 24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85" name="Oval 25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86" name="Oval 26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87" name="Oval 27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88" name="Oval 28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89" name="Oval 29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90" name="Oval 30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91" name="Oval 31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92" name="Oval 32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93" name="Oval 33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94" name="Oval 34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95" name="Oval 35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96" name="Oval 36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97" name="Oval 37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98" name="Oval 38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99" name="Oval 39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00" name="Oval 40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</p:grpSp>
      <p:grpSp>
        <p:nvGrpSpPr>
          <p:cNvPr id="66601" name="Group 41" descr="decorative graphic made up of dots"/>
          <p:cNvGrpSpPr>
            <a:grpSpLocks/>
          </p:cNvGrpSpPr>
          <p:nvPr/>
        </p:nvGrpSpPr>
        <p:grpSpPr bwMode="auto">
          <a:xfrm>
            <a:off x="7467601" y="1219200"/>
            <a:ext cx="792163" cy="1295400"/>
            <a:chOff x="5136" y="960"/>
            <a:chExt cx="528" cy="864"/>
          </a:xfrm>
        </p:grpSpPr>
        <p:sp>
          <p:nvSpPr>
            <p:cNvPr id="66602" name="Oval 42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03" name="Oval 43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04" name="Oval 44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05" name="Oval 45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06" name="Oval 46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07" name="Oval 47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08" name="Oval 48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09" name="Oval 49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10" name="Oval 50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11" name="Oval 51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12" name="Oval 52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13" name="Oval 53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14" name="Oval 54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15" name="Oval 55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16" name="Oval 56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17" name="Oval 57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18" name="Oval 58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19" name="Oval 59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20" name="Oval 60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21" name="Oval 61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22" name="Oval 62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23" name="Oval 63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24" name="Oval 64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25" name="Oval 65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26" name="Oval 66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27" name="Oval 67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28" name="Oval 68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29" name="Oval 69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30" name="Oval 70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31" name="Oval 71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32" name="Oval 72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1716" y="6247727"/>
            <a:ext cx="374823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5604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D42C89A-839C-4E2B-AABE-3C3FD8BE39EE}" type="datetime1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5966" y="6261306"/>
            <a:ext cx="374823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11713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0"/>
            <a:ext cx="7886700" cy="2852737"/>
          </a:xfrm>
        </p:spPr>
        <p:txBody>
          <a:bodyPr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5"/>
            <a:ext cx="7886700" cy="1500187"/>
          </a:xfrm>
        </p:spPr>
        <p:txBody>
          <a:bodyPr/>
          <a:lstStyle>
            <a:lvl1pPr marL="0" indent="0">
              <a:buNone/>
              <a:defRPr sz="1800"/>
            </a:lvl1pPr>
            <a:lvl2pPr marL="342900" indent="0">
              <a:buNone/>
              <a:defRPr sz="1500"/>
            </a:lvl2pPr>
            <a:lvl3pPr marL="685800" indent="0">
              <a:buNone/>
              <a:defRPr sz="135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A70CE38-AE27-4093-973F-849A92023733}" type="datetime1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6907" y="6247727"/>
            <a:ext cx="374823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78839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3B5B9D9-398A-4ADB-B4A4-3855F0630A46}" type="datetime1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6907" y="6247727"/>
            <a:ext cx="374823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67513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7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9" y="1681163"/>
            <a:ext cx="386873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9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9A9E2A2-3009-4CE4-9191-4866BA7B5FF9}" type="datetime1">
              <a:rPr lang="en-US" smtClean="0"/>
              <a:t>10/14/2025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6907" y="6247727"/>
            <a:ext cx="374823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1789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F965D5D-926D-4146-8C68-86FB2FC96C51}" type="datetime1">
              <a:rPr lang="en-US" smtClean="0"/>
              <a:t>10/14/2025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6907" y="6247727"/>
            <a:ext cx="374823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2300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B75FE69-3188-4E3E-A0EA-80136DEC648E}" type="datetime1">
              <a:rPr lang="en-US" smtClean="0"/>
              <a:t>10/14/2025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6907" y="6247727"/>
            <a:ext cx="374823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9893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9" y="457200"/>
            <a:ext cx="2949575" cy="1600200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7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9" y="2057400"/>
            <a:ext cx="2949575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B215079-A657-431F-B71C-43646969B1B1}" type="datetime1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6907" y="6247727"/>
            <a:ext cx="374823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15455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9" y="457200"/>
            <a:ext cx="2949575" cy="1600200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7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9" y="2057400"/>
            <a:ext cx="2949575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D7515D5-6B9F-43D4-9F9F-150E664954C2}" type="datetime1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6907" y="6247727"/>
            <a:ext cx="374823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1189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4898B30-25C6-44A4-BFF6-1CA5EB68214C}" type="datetime1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6907" y="6247727"/>
            <a:ext cx="374823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4054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22240"/>
            <a:ext cx="2057400" cy="6008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2240"/>
            <a:ext cx="6019800" cy="6008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3BA18D7-9C39-4F40-8A6A-15EB7C00C34A}" type="datetime1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6907" y="6247727"/>
            <a:ext cx="374823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42713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B279FE5D-7DC1-4B03-BF53-8747D8AAFCC4}" type="datetime1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6907" y="6247727"/>
            <a:ext cx="374823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3561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Line 2"/>
          <p:cNvSpPr>
            <a:spLocks noChangeShapeType="1"/>
          </p:cNvSpPr>
          <p:nvPr/>
        </p:nvSpPr>
        <p:spPr bwMode="auto">
          <a:xfrm>
            <a:off x="8001000" y="0"/>
            <a:ext cx="0" cy="15240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/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6554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19263"/>
            <a:ext cx="8229600" cy="4411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65541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750"/>
            </a:lvl1pPr>
          </a:lstStyle>
          <a:p>
            <a:fld id="{54E9988D-CFA9-401A-BC2D-B6AED1CC5C1E}" type="datetime1">
              <a:rPr lang="en-US" smtClean="0"/>
              <a:t>10/14/2025</a:t>
            </a:fld>
            <a:endParaRPr lang="en-US"/>
          </a:p>
        </p:txBody>
      </p:sp>
      <p:sp>
        <p:nvSpPr>
          <p:cNvPr id="65542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750"/>
            </a:lvl1pPr>
          </a:lstStyle>
          <a:p>
            <a:endParaRPr lang="en-US"/>
          </a:p>
        </p:txBody>
      </p:sp>
      <p:sp>
        <p:nvSpPr>
          <p:cNvPr id="65543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75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grpSp>
        <p:nvGrpSpPr>
          <p:cNvPr id="65544" name="Group 8" descr="decorative graphic made up of dots"/>
          <p:cNvGrpSpPr>
            <a:grpSpLocks/>
          </p:cNvGrpSpPr>
          <p:nvPr/>
        </p:nvGrpSpPr>
        <p:grpSpPr bwMode="auto">
          <a:xfrm>
            <a:off x="8153401" y="152400"/>
            <a:ext cx="792163" cy="1295400"/>
            <a:chOff x="5136" y="960"/>
            <a:chExt cx="528" cy="864"/>
          </a:xfrm>
        </p:grpSpPr>
        <p:sp>
          <p:nvSpPr>
            <p:cNvPr id="65545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46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47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48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49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50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51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52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53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54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55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56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57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58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59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60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61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62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63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64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65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66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67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68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69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70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71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72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73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74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75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</p:grpSp>
      <p:sp>
        <p:nvSpPr>
          <p:cNvPr id="65576" name="Line 40"/>
          <p:cNvSpPr>
            <a:spLocks noChangeShapeType="1"/>
          </p:cNvSpPr>
          <p:nvPr/>
        </p:nvSpPr>
        <p:spPr bwMode="auto">
          <a:xfrm>
            <a:off x="457200" y="1524000"/>
            <a:ext cx="75438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/>
          </a:p>
        </p:txBody>
      </p:sp>
    </p:spTree>
    <p:extLst>
      <p:ext uri="{BB962C8B-B14F-4D97-AF65-F5344CB8AC3E}">
        <p14:creationId xmlns:p14="http://schemas.microsoft.com/office/powerpoint/2010/main" val="331262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925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925" b="1">
          <a:solidFill>
            <a:schemeClr val="tx2"/>
          </a:solidFill>
          <a:latin typeface="Arial" panose="020B060402020202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925" b="1">
          <a:solidFill>
            <a:schemeClr val="tx2"/>
          </a:solidFill>
          <a:latin typeface="Arial" panose="020B060402020202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925" b="1">
          <a:solidFill>
            <a:schemeClr val="tx2"/>
          </a:solidFill>
          <a:latin typeface="Arial" panose="020B060402020202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925" b="1">
          <a:solidFill>
            <a:schemeClr val="tx2"/>
          </a:solidFill>
          <a:latin typeface="Arial" panose="020B0604020202020204" pitchFamily="34" charset="0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sz="2925" b="1">
          <a:solidFill>
            <a:schemeClr val="tx2"/>
          </a:solidFill>
          <a:latin typeface="Arial" panose="020B0604020202020204" pitchFamily="34" charset="0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sz="2925" b="1">
          <a:solidFill>
            <a:schemeClr val="tx2"/>
          </a:solidFill>
          <a:latin typeface="Arial" panose="020B0604020202020204" pitchFamily="34" charset="0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sz="2925" b="1">
          <a:solidFill>
            <a:schemeClr val="tx2"/>
          </a:solidFill>
          <a:latin typeface="Arial" panose="020B0604020202020204" pitchFamily="34" charset="0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sz="2925" b="1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2250" kern="1200">
          <a:solidFill>
            <a:schemeClr val="tx1"/>
          </a:solidFill>
          <a:latin typeface="+mn-lt"/>
          <a:ea typeface="+mn-ea"/>
          <a:cs typeface="+mn-cs"/>
        </a:defRPr>
      </a:lvl1pPr>
      <a:lvl2pPr marL="519113" indent="-260747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740569" indent="-220266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1725" kern="1200">
          <a:solidFill>
            <a:schemeClr val="tx1"/>
          </a:solidFill>
          <a:latin typeface="+mn-lt"/>
          <a:ea typeface="+mn-ea"/>
          <a:cs typeface="+mn-cs"/>
        </a:defRPr>
      </a:lvl3pPr>
      <a:lvl4pPr marL="960835" indent="-219075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198960" indent="-236935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Introduction to Google Cloud SQL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Understanding managed relational databases on Google Cloud Platform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6C5627-1DC8-F622-3F7F-DCB8B3FEC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Cloud SQL?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Fully managed relational database service</a:t>
            </a:r>
          </a:p>
          <a:p>
            <a:pPr marL="0" indent="0">
              <a:buNone/>
            </a:pPr>
            <a:r>
              <a:rPr dirty="0"/>
              <a:t>• Supports MySQL, PostgreSQL, and SQL Server</a:t>
            </a:r>
          </a:p>
          <a:p>
            <a:pPr marL="0" indent="0">
              <a:buNone/>
            </a:pPr>
            <a:r>
              <a:rPr dirty="0"/>
              <a:t>• Automates backups, replication, and patching</a:t>
            </a:r>
          </a:p>
          <a:p>
            <a:pPr marL="0" indent="0">
              <a:buNone/>
            </a:pPr>
            <a:r>
              <a:rPr dirty="0"/>
              <a:t>• Ideal for web apps and enterprise workloads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8942DD-09DF-9A31-3F13-83D41AC34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Supported Database Engines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**MySQL** – open-source, widely used relational DB</a:t>
            </a:r>
          </a:p>
          <a:p>
            <a:pPr marL="0" indent="0">
              <a:buNone/>
            </a:pPr>
            <a:r>
              <a:rPr dirty="0"/>
              <a:t>• **PostgreSQL** – advanced open-source SQL database</a:t>
            </a:r>
          </a:p>
          <a:p>
            <a:pPr marL="0" indent="0">
              <a:buNone/>
            </a:pPr>
            <a:r>
              <a:rPr dirty="0"/>
              <a:t>• **SQL Server** – Microsoft’s relational database</a:t>
            </a:r>
          </a:p>
          <a:p>
            <a:pPr marL="0" indent="0">
              <a:buNone/>
            </a:pPr>
            <a:r>
              <a:rPr dirty="0"/>
              <a:t>• Choose based on compatibility and workload needs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550F2F-1176-6869-CA85-8BDEE5A85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Hosted databases in Google-managed environments</a:t>
            </a:r>
          </a:p>
          <a:p>
            <a:pPr marL="0" indent="0">
              <a:buNone/>
            </a:pPr>
            <a:r>
              <a:rPr dirty="0"/>
              <a:t>• Automatic replication for reliability</a:t>
            </a:r>
          </a:p>
          <a:p>
            <a:pPr marL="0" indent="0">
              <a:buNone/>
            </a:pPr>
            <a:r>
              <a:rPr dirty="0"/>
              <a:t>• Private IP or public IP connectivity</a:t>
            </a:r>
          </a:p>
          <a:p>
            <a:pPr marL="0" indent="0">
              <a:buNone/>
            </a:pPr>
            <a:r>
              <a:rPr dirty="0"/>
              <a:t>• Integration with Compute Engine, App Engine, and GKE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114884-3F6F-CC86-E81F-BA7D6DD00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Automated backups and maintenance</a:t>
            </a:r>
          </a:p>
          <a:p>
            <a:pPr marL="0" indent="0">
              <a:buNone/>
            </a:pPr>
            <a:r>
              <a:rPr dirty="0"/>
              <a:t>• High availability with failover replicas</a:t>
            </a:r>
          </a:p>
          <a:p>
            <a:pPr marL="0" indent="0">
              <a:buNone/>
            </a:pPr>
            <a:r>
              <a:rPr dirty="0"/>
              <a:t>• Horizontal read replicas for scalability</a:t>
            </a:r>
          </a:p>
          <a:p>
            <a:pPr marL="0" indent="0">
              <a:buNone/>
            </a:pPr>
            <a:r>
              <a:rPr dirty="0"/>
              <a:t>• Built-in monitoring via Cloud Monitoring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FEE2EC-C6E9-A67F-6835-65DDA3811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&amp; Configuration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Create via Console, CLI, or Terraform</a:t>
            </a:r>
          </a:p>
          <a:p>
            <a:pPr marL="0" indent="0">
              <a:buNone/>
            </a:pPr>
            <a:r>
              <a:rPr dirty="0"/>
              <a:t>• Choose database engine, version, and region</a:t>
            </a:r>
          </a:p>
          <a:p>
            <a:pPr marL="0" indent="0">
              <a:buNone/>
            </a:pPr>
            <a:r>
              <a:rPr dirty="0"/>
              <a:t>• Configure CPU, memory, storage, and networking</a:t>
            </a:r>
          </a:p>
          <a:p>
            <a:pPr marL="0" indent="0">
              <a:buNone/>
            </a:pPr>
            <a:r>
              <a:rPr dirty="0"/>
              <a:t>• Supports both private and public connections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0DBA3B-2DB4-0BF6-A918-86D40C9DD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 Availability &amp; Backups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**High Availability (HA)** – automatic failover to standby</a:t>
            </a:r>
          </a:p>
          <a:p>
            <a:pPr marL="0" indent="0">
              <a:buNone/>
            </a:pPr>
            <a:r>
              <a:rPr dirty="0"/>
              <a:t>• **Point-in-time recovery** – restore to any time</a:t>
            </a:r>
          </a:p>
          <a:p>
            <a:pPr marL="0" indent="0">
              <a:buNone/>
            </a:pPr>
            <a:r>
              <a:rPr dirty="0"/>
              <a:t>• **Automated backups** and manual snapshots</a:t>
            </a:r>
          </a:p>
          <a:p>
            <a:pPr marL="0" indent="0">
              <a:buNone/>
            </a:pPr>
            <a:r>
              <a:rPr dirty="0"/>
              <a:t>• Data replication across zones or regions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15881D-2518-0372-1206-3F5A77111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&amp; IAM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IAM roles control who can manage instances</a:t>
            </a:r>
          </a:p>
          <a:p>
            <a:pPr marL="0" indent="0">
              <a:buNone/>
            </a:pPr>
            <a:r>
              <a:rPr dirty="0"/>
              <a:t>• Data encrypted at rest and in transit</a:t>
            </a:r>
          </a:p>
          <a:p>
            <a:pPr marL="0" indent="0">
              <a:buNone/>
            </a:pPr>
            <a:r>
              <a:rPr dirty="0"/>
              <a:t>• Private Service Access for VPC connections</a:t>
            </a:r>
          </a:p>
          <a:p>
            <a:pPr marL="0" indent="0">
              <a:buNone/>
            </a:pPr>
            <a:r>
              <a:rPr dirty="0"/>
              <a:t>• SSL/TLS for secure client connections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D9D6E1-36DF-9A6A-B9EE-19F9E3174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&amp; Scaling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Vertical scaling – adjust CPU/RAM easily</a:t>
            </a:r>
          </a:p>
          <a:p>
            <a:pPr marL="0" indent="0">
              <a:buNone/>
            </a:pPr>
            <a:r>
              <a:rPr dirty="0"/>
              <a:t>• Horizontal scaling – read replicas for load distribution</a:t>
            </a:r>
          </a:p>
          <a:p>
            <a:pPr marL="0" indent="0">
              <a:buNone/>
            </a:pPr>
            <a:r>
              <a:rPr dirty="0"/>
              <a:t>• Automatic storage increase option</a:t>
            </a:r>
          </a:p>
          <a:p>
            <a:pPr marL="0" indent="0">
              <a:buNone/>
            </a:pPr>
            <a:r>
              <a:rPr dirty="0"/>
              <a:t>• Built-in query insights and performance metrics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1D6201-6C40-3BAD-F399-6B391AD58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Pricing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Pay-as-you-go for instance size and storage</a:t>
            </a:r>
          </a:p>
          <a:p>
            <a:pPr marL="0" indent="0">
              <a:buNone/>
            </a:pPr>
            <a:r>
              <a:rPr dirty="0"/>
              <a:t>• Separate billing for backups and networking</a:t>
            </a:r>
          </a:p>
          <a:p>
            <a:pPr marL="0" indent="0">
              <a:buNone/>
            </a:pPr>
            <a:r>
              <a:rPr dirty="0"/>
              <a:t>• Sustained-use discounts available</a:t>
            </a:r>
          </a:p>
          <a:p>
            <a:pPr marL="0" indent="0">
              <a:buNone/>
            </a:pPr>
            <a:r>
              <a:rPr dirty="0"/>
              <a:t>• Free tier for learning and small test instances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76FA39-D79C-556D-145D-F08747F3B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Web and mobile app databases</a:t>
            </a:r>
          </a:p>
          <a:p>
            <a:pPr marL="0" indent="0">
              <a:buNone/>
            </a:pPr>
            <a:r>
              <a:rPr dirty="0"/>
              <a:t>• ERP and CRM systems</a:t>
            </a:r>
          </a:p>
          <a:p>
            <a:pPr marL="0" indent="0">
              <a:buNone/>
            </a:pPr>
            <a:r>
              <a:rPr dirty="0"/>
              <a:t>• Business analytics and dashboards</a:t>
            </a:r>
          </a:p>
          <a:p>
            <a:pPr marL="0" indent="0">
              <a:buNone/>
            </a:pPr>
            <a:r>
              <a:rPr dirty="0"/>
              <a:t>• Migrating on-prem SQL databases to the cloud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4F8D76-27C4-523F-AFBA-3CC79A650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Comparison with Other GCP Databases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**Cloud SQL** – relational and transactional</a:t>
            </a:r>
          </a:p>
          <a:p>
            <a:pPr marL="0" indent="0">
              <a:buNone/>
            </a:pPr>
            <a:r>
              <a:rPr dirty="0"/>
              <a:t>• **Cloud Spanner** – globally distributed SQL</a:t>
            </a:r>
          </a:p>
          <a:p>
            <a:pPr marL="0" indent="0">
              <a:buNone/>
            </a:pPr>
            <a:r>
              <a:rPr dirty="0"/>
              <a:t>• **</a:t>
            </a:r>
            <a:r>
              <a:rPr dirty="0" err="1"/>
              <a:t>Firestore</a:t>
            </a:r>
            <a:r>
              <a:rPr dirty="0"/>
              <a:t> / Firebase** – NoSQL and real-time apps</a:t>
            </a:r>
          </a:p>
          <a:p>
            <a:pPr marL="0" indent="0">
              <a:buNone/>
            </a:pPr>
            <a:r>
              <a:rPr dirty="0"/>
              <a:t>• **</a:t>
            </a:r>
            <a:r>
              <a:rPr dirty="0" err="1"/>
              <a:t>BigQuery</a:t>
            </a:r>
            <a:r>
              <a:rPr dirty="0"/>
              <a:t>** – analytical, serverless SQL data warehouse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9ACC64-85FF-9B1C-2B4A-37B89683B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arners Point">
  <a:themeElements>
    <a:clrScheme name="1_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1_Networ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I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I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1_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Learners Point" id="{5ABB7BE2-076F-42C1-9907-FD58862889C1}" vid="{2565D177-60C2-4381-BEC4-E0C09BB79CB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Learners Point</Template>
  <TotalTime>3</TotalTime>
  <Words>403</Words>
  <Application>Microsoft Office PowerPoint</Application>
  <PresentationFormat>On-screen Show (4:3)</PresentationFormat>
  <Paragraphs>69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Wingdings</vt:lpstr>
      <vt:lpstr>Learners Point</vt:lpstr>
      <vt:lpstr>Introduction to Google Cloud SQL</vt:lpstr>
      <vt:lpstr>What is Cloud SQL?</vt:lpstr>
      <vt:lpstr>Supported Database Engines</vt:lpstr>
      <vt:lpstr>Architecture Overview</vt:lpstr>
      <vt:lpstr>Key Features</vt:lpstr>
      <vt:lpstr>Deployment &amp; Configuration</vt:lpstr>
      <vt:lpstr>High Availability &amp; Backups</vt:lpstr>
      <vt:lpstr>Security &amp; IAM</vt:lpstr>
      <vt:lpstr>Performance &amp; Scaling</vt:lpstr>
      <vt:lpstr>Pricing Model</vt:lpstr>
      <vt:lpstr>Use Cases</vt:lpstr>
      <vt:lpstr>Comparison with Other GCP Databases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Jasdhir Singh</cp:lastModifiedBy>
  <cp:revision>2</cp:revision>
  <dcterms:created xsi:type="dcterms:W3CDTF">2013-01-27T09:14:16Z</dcterms:created>
  <dcterms:modified xsi:type="dcterms:W3CDTF">2025-10-14T07:14:26Z</dcterms:modified>
  <cp:category/>
</cp:coreProperties>
</file>