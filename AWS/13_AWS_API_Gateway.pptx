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6F1FA-C8B0-44F8-A458-F211774CBD3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74ED7-1586-4B33-85FD-B67C09D9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7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D5F7D0DF-CFE3-448E-B7EB-636C6175872C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4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D14878-2E14-49B5-84A2-2EE8EFC04B86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3AB458-10ED-4362-AC29-C652363D07C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7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909B4E-3C83-4C6E-BA7E-F470AF15195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8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0C3EAF-E870-4BC8-B2EA-CAF9E2027557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2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E5A991-FD2B-4986-A15B-B575BCEED332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7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F038F8-7CCA-4932-BC7F-D4AB8896D11F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DB414E-E65C-46E6-A7F9-570685839003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0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E2A74D-D291-4F8B-B977-B506EC494FD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AED2C2-7D6B-465D-A08E-0EF3490CC4D2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3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1F6CA5-F94E-4A80-808C-1A4468D0A1A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27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4ECE5EF-7CA4-4627-8923-5D23A7F6CC83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96E050F6-922F-4FD9-BD8E-29BF38314BDA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106369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AWS API Gateway: </a:t>
            </a:r>
            <a:br>
              <a:rPr lang="en-US" dirty="0"/>
            </a:br>
            <a:r>
              <a:rPr lang="en-US" dirty="0"/>
              <a:t>	</a:t>
            </a:r>
            <a:r>
              <a:rPr sz="3600" dirty="0"/>
              <a:t>Building and Managing APIs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F15B6-60BF-0050-9E2F-8F4ACA28B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C861C-C908-7D2D-1AD4-13C32A9F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Fully managed service for creating, publishing, maintaining, and securing APIs</a:t>
            </a:r>
          </a:p>
          <a:p>
            <a:pPr marL="0" indent="0">
              <a:buNone/>
            </a:pPr>
            <a:r>
              <a:rPr dirty="0"/>
              <a:t>• Acts as a 'front door' for applications to access data or logic from backend services</a:t>
            </a:r>
          </a:p>
          <a:p>
            <a:pPr marL="0" indent="0">
              <a:buNone/>
            </a:pPr>
            <a:r>
              <a:rPr dirty="0"/>
              <a:t>• Supports RESTful, HTTP, and WebSocket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87AD2-B0CD-2A96-41A3-7C2EFED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API Gateway?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Simplifies API creation and management</a:t>
            </a:r>
          </a:p>
          <a:p>
            <a:pPr marL="0" indent="0">
              <a:buNone/>
            </a:pPr>
            <a:r>
              <a:rPr dirty="0"/>
              <a:t>• Provides authentication, authorization, and throttling</a:t>
            </a:r>
          </a:p>
          <a:p>
            <a:pPr marL="0" indent="0">
              <a:buNone/>
            </a:pPr>
            <a:r>
              <a:rPr dirty="0"/>
              <a:t>• Integrates with AWS Lambda, EC2, ECS, and on-premise backends</a:t>
            </a:r>
          </a:p>
          <a:p>
            <a:pPr marL="0" indent="0">
              <a:buNone/>
            </a:pPr>
            <a:r>
              <a:rPr dirty="0"/>
              <a:t>• Offers caching and monitoring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D2E34-0A71-E8C2-9BC8-BBC28693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**API** – A collection of resources and methods</a:t>
            </a:r>
          </a:p>
          <a:p>
            <a:pPr marL="0" indent="0">
              <a:buNone/>
            </a:pPr>
            <a:r>
              <a:rPr dirty="0"/>
              <a:t>• **Resource** – Represents an endpoint (e.g., /users)</a:t>
            </a:r>
          </a:p>
          <a:p>
            <a:pPr marL="0" indent="0">
              <a:buNone/>
            </a:pPr>
            <a:r>
              <a:rPr dirty="0"/>
              <a:t>• **Method** – Defines request type (GET, POST, etc.)</a:t>
            </a:r>
          </a:p>
          <a:p>
            <a:pPr marL="0" indent="0">
              <a:buNone/>
            </a:pPr>
            <a:r>
              <a:rPr dirty="0"/>
              <a:t>• **Stage** – Represents deployment environment (dev, test, prod)</a:t>
            </a:r>
          </a:p>
          <a:p>
            <a:pPr marL="0" indent="0">
              <a:buNone/>
            </a:pPr>
            <a:r>
              <a:rPr dirty="0"/>
              <a:t>• **Integration** – Connects API to backend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CEF8-1802-820E-150F-1050B6C7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API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**REST API** – Full-featured API management with request/response modeling</a:t>
            </a:r>
          </a:p>
          <a:p>
            <a:pPr marL="0" indent="0">
              <a:buNone/>
            </a:pPr>
            <a:r>
              <a:rPr dirty="0"/>
              <a:t>• **HTTP API** – Lightweight, lower-latency API for Lambda and HTTP backends</a:t>
            </a:r>
          </a:p>
          <a:p>
            <a:pPr marL="0" indent="0">
              <a:buNone/>
            </a:pPr>
            <a:r>
              <a:rPr dirty="0"/>
              <a:t>• **WebSocket API** – Real-time, bidirectional communication for apps like chat or games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0A93E-AEA6-C285-7C1F-01A2550C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Client application sends API request</a:t>
            </a:r>
          </a:p>
          <a:p>
            <a:pPr marL="0" indent="0">
              <a:buNone/>
            </a:pPr>
            <a:r>
              <a:rPr dirty="0"/>
              <a:t>• API Gateway receives and routes the request</a:t>
            </a:r>
          </a:p>
          <a:p>
            <a:pPr marL="0" indent="0">
              <a:buNone/>
            </a:pPr>
            <a:r>
              <a:rPr dirty="0"/>
              <a:t>• Optional: Authorization &amp; validation</a:t>
            </a:r>
          </a:p>
          <a:p>
            <a:pPr marL="0" indent="0">
              <a:buNone/>
            </a:pPr>
            <a:r>
              <a:rPr dirty="0"/>
              <a:t>• Invokes backend (Lambda, EC2, DynamoDB, etc.)</a:t>
            </a:r>
          </a:p>
          <a:p>
            <a:pPr marL="0" indent="0">
              <a:buNone/>
            </a:pPr>
            <a:r>
              <a:rPr dirty="0"/>
              <a:t>• Returns response to client</a:t>
            </a:r>
          </a:p>
          <a:p>
            <a:pPr marL="0" indent="0">
              <a:buNone/>
            </a:pPr>
            <a:r>
              <a:rPr dirty="0"/>
              <a:t>• Integrated with CloudWatch for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26B3C-837F-6C67-2783-584D512E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**Lambda Integration** – Serverless backend processing</a:t>
            </a:r>
          </a:p>
          <a:p>
            <a:pPr marL="0" indent="0">
              <a:buNone/>
            </a:pPr>
            <a:r>
              <a:rPr dirty="0"/>
              <a:t>• **HTTP Integration** – Proxy to web services or microservices</a:t>
            </a:r>
          </a:p>
          <a:p>
            <a:pPr marL="0" indent="0">
              <a:buNone/>
            </a:pPr>
            <a:r>
              <a:rPr dirty="0"/>
              <a:t>• **AWS Service Integration** – Directly invoke AWS services (S3, SNS, DynamoDB)</a:t>
            </a:r>
          </a:p>
          <a:p>
            <a:pPr marL="0" indent="0">
              <a:buNone/>
            </a:pPr>
            <a:r>
              <a:rPr dirty="0"/>
              <a:t>• **Mock Integration** – Test APIs without backend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293D-A18C-D097-6FD5-E6479CBC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and Response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Client sends request</a:t>
            </a:r>
          </a:p>
          <a:p>
            <a:pPr marL="0" indent="0">
              <a:buNone/>
            </a:pPr>
            <a:r>
              <a:rPr dirty="0"/>
              <a:t>2. API Gateway handles authentication, authorization, and throttling</a:t>
            </a:r>
          </a:p>
          <a:p>
            <a:pPr marL="0" indent="0">
              <a:buNone/>
            </a:pPr>
            <a:r>
              <a:rPr dirty="0"/>
              <a:t>3. Transforms request and forwards to backend</a:t>
            </a:r>
          </a:p>
          <a:p>
            <a:pPr marL="0" indent="0">
              <a:buNone/>
            </a:pPr>
            <a:r>
              <a:rPr dirty="0"/>
              <a:t>4. Backend processes and returns response</a:t>
            </a:r>
          </a:p>
          <a:p>
            <a:pPr marL="0" indent="0">
              <a:buNone/>
            </a:pPr>
            <a:r>
              <a:rPr dirty="0"/>
              <a:t>5. API Gateway transforms and sends response to client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941B6-2449-AC15-7CC0-A42A5D50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IAM permissions for API Gateway management</a:t>
            </a:r>
          </a:p>
          <a:p>
            <a:pPr marL="0" indent="0">
              <a:buNone/>
            </a:pPr>
            <a:r>
              <a:rPr dirty="0"/>
              <a:t>• API keys for clients</a:t>
            </a:r>
          </a:p>
          <a:p>
            <a:pPr marL="0" indent="0">
              <a:buNone/>
            </a:pPr>
            <a:r>
              <a:rPr dirty="0"/>
              <a:t>• AWS Cognito for user authentication</a:t>
            </a:r>
          </a:p>
          <a:p>
            <a:pPr marL="0" indent="0">
              <a:buNone/>
            </a:pPr>
            <a:r>
              <a:rPr dirty="0"/>
              <a:t>• Lambda Authorizers for custom authentication</a:t>
            </a:r>
          </a:p>
          <a:p>
            <a:pPr marL="0" indent="0">
              <a:buNone/>
            </a:pPr>
            <a:r>
              <a:rPr dirty="0"/>
              <a:t>• Resource policies for fine-grained access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1726-9404-A969-9697-7766888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Throttling, Quotas, and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**Throttling** – Limit request rate per client</a:t>
            </a:r>
          </a:p>
          <a:p>
            <a:pPr marL="0" indent="0">
              <a:buNone/>
            </a:pPr>
            <a:r>
              <a:rPr dirty="0"/>
              <a:t>• **Quotas** – Restrict total requests per time period</a:t>
            </a:r>
          </a:p>
          <a:p>
            <a:pPr marL="0" indent="0">
              <a:buNone/>
            </a:pPr>
            <a:r>
              <a:rPr dirty="0"/>
              <a:t>• **Caching** – Reduce backend load and improve latency</a:t>
            </a:r>
          </a:p>
          <a:p>
            <a:pPr marL="0" indent="0">
              <a:buNone/>
            </a:pPr>
            <a:r>
              <a:rPr dirty="0"/>
              <a:t>• Cache TTL (Time to Live) configurable per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72C0C-A5C5-AAD2-1254-629312DB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**CloudWatch Metrics** – Monitor API latency, requests, and errors</a:t>
            </a:r>
          </a:p>
          <a:p>
            <a:pPr marL="0" indent="0">
              <a:buNone/>
            </a:pPr>
            <a:r>
              <a:rPr dirty="0"/>
              <a:t>• **CloudWatch Logs** – View request/response details</a:t>
            </a:r>
          </a:p>
          <a:p>
            <a:pPr marL="0" indent="0">
              <a:buNone/>
            </a:pPr>
            <a:r>
              <a:rPr dirty="0"/>
              <a:t>• **X-Ray Integration** – Trace requests for performance tuning</a:t>
            </a:r>
          </a:p>
          <a:p>
            <a:pPr marL="0" indent="0">
              <a:buNone/>
            </a:pPr>
            <a:r>
              <a:rPr dirty="0"/>
              <a:t>• Set alarms for API usage or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1DA81-C40F-FDA2-AC8B-BA135208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and Deployment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Each API can have multiple stages (dev, test, prod)</a:t>
            </a:r>
          </a:p>
          <a:p>
            <a:pPr marL="0" indent="0">
              <a:buNone/>
            </a:pPr>
            <a:r>
              <a:rPr dirty="0"/>
              <a:t>• Stage variables allow environment-specific configuration</a:t>
            </a:r>
          </a:p>
          <a:p>
            <a:pPr marL="0" indent="0">
              <a:buNone/>
            </a:pPr>
            <a:r>
              <a:rPr dirty="0"/>
              <a:t>• Deploy new versions without affecting production</a:t>
            </a:r>
          </a:p>
          <a:p>
            <a:pPr marL="0" indent="0">
              <a:buNone/>
            </a:pPr>
            <a:r>
              <a:rPr dirty="0"/>
              <a:t>• Support for rollback to previous versions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AFC17-4AB4-5835-2E32-A4371EB5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Custom error responses for client visibility</a:t>
            </a:r>
          </a:p>
          <a:p>
            <a:pPr marL="0" indent="0">
              <a:buNone/>
            </a:pPr>
            <a:r>
              <a:rPr dirty="0"/>
              <a:t>• Mapping templates for detailed responses</a:t>
            </a:r>
          </a:p>
          <a:p>
            <a:pPr marL="0" indent="0">
              <a:buNone/>
            </a:pPr>
            <a:r>
              <a:rPr dirty="0"/>
              <a:t>• Catch and log integration errors</a:t>
            </a:r>
          </a:p>
          <a:p>
            <a:pPr marL="0" indent="0">
              <a:buNone/>
            </a:pPr>
            <a:r>
              <a:rPr dirty="0"/>
              <a:t>• Use proper status codes (4xx for client, 5xx for server)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25222-07FB-08EF-551F-F0586A34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 per API call and data transferred out</a:t>
            </a:r>
          </a:p>
          <a:p>
            <a:pPr marL="0" indent="0">
              <a:buNone/>
            </a:pPr>
            <a:r>
              <a:rPr dirty="0"/>
              <a:t>• Additional cost for caching and custom domains</a:t>
            </a:r>
          </a:p>
          <a:p>
            <a:pPr marL="0" indent="0">
              <a:buNone/>
            </a:pPr>
            <a:r>
              <a:rPr dirty="0"/>
              <a:t>• Free tier available (1M REST API calls/month)</a:t>
            </a:r>
          </a:p>
          <a:p>
            <a:pPr marL="0" indent="0">
              <a:buNone/>
            </a:pPr>
            <a:r>
              <a:rPr dirty="0"/>
              <a:t>• Optimized pricing for HTTP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5F12C-90D8-EA33-CA95-53AB91CE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Serverless backend with AWS Lambda</a:t>
            </a:r>
          </a:p>
          <a:p>
            <a:pPr marL="0" indent="0">
              <a:buNone/>
            </a:pPr>
            <a:r>
              <a:rPr dirty="0"/>
              <a:t>• API gateway for microservices</a:t>
            </a:r>
          </a:p>
          <a:p>
            <a:pPr marL="0" indent="0">
              <a:buNone/>
            </a:pPr>
            <a:r>
              <a:rPr dirty="0"/>
              <a:t>• Real-time applications (</a:t>
            </a:r>
            <a:r>
              <a:rPr dirty="0" err="1"/>
              <a:t>WebSockets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Mobile and IoT backend APIs</a:t>
            </a:r>
          </a:p>
          <a:p>
            <a:pPr marL="0" indent="0">
              <a:buNone/>
            </a:pPr>
            <a:r>
              <a:rPr dirty="0"/>
              <a:t>• API management for external developers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59055-3C77-62EF-B5E8-694ADAA3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Design APIs with proper versioning and documentation</a:t>
            </a:r>
          </a:p>
          <a:p>
            <a:pPr marL="0" indent="0">
              <a:buNone/>
            </a:pPr>
            <a:r>
              <a:rPr dirty="0"/>
              <a:t>• Use caching and throttling to reduce costs</a:t>
            </a:r>
          </a:p>
          <a:p>
            <a:pPr marL="0" indent="0">
              <a:buNone/>
            </a:pPr>
            <a:r>
              <a:rPr dirty="0"/>
              <a:t>• Secure APIs with IAM and Cognito</a:t>
            </a:r>
          </a:p>
          <a:p>
            <a:pPr marL="0" indent="0">
              <a:buNone/>
            </a:pPr>
            <a:r>
              <a:rPr dirty="0"/>
              <a:t>• Log and monitor with CloudWatch</a:t>
            </a:r>
          </a:p>
          <a:p>
            <a:pPr marL="0" indent="0">
              <a:buNone/>
            </a:pPr>
            <a:r>
              <a:rPr dirty="0"/>
              <a:t>• Automate deployments with AWS SAM or Terraform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A157D-B2AE-A4F3-B604-7C8DEF4B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Example: Building a REST API with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Create a new Lambda function (Node.js, Python, or Java)</a:t>
            </a:r>
          </a:p>
          <a:p>
            <a:pPr marL="0" indent="0">
              <a:buNone/>
            </a:pPr>
            <a:r>
              <a:rPr dirty="0"/>
              <a:t>2. Open API Gateway console → Create REST API</a:t>
            </a:r>
          </a:p>
          <a:p>
            <a:pPr marL="0" indent="0">
              <a:buNone/>
            </a:pPr>
            <a:r>
              <a:rPr dirty="0"/>
              <a:t>3. Define resource and method (GET /hello)</a:t>
            </a:r>
          </a:p>
          <a:p>
            <a:pPr marL="0" indent="0">
              <a:buNone/>
            </a:pPr>
            <a:r>
              <a:rPr dirty="0"/>
              <a:t>4. Integrate Lambda function</a:t>
            </a:r>
          </a:p>
          <a:p>
            <a:pPr marL="0" indent="0">
              <a:buNone/>
            </a:pPr>
            <a:r>
              <a:rPr dirty="0"/>
              <a:t>5. Deploy to 'dev' stage and test endpoint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70767-0B62-68FF-D926-BEFE9707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Java Lambda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/>
              <a:t>public class </a:t>
            </a:r>
            <a:r>
              <a:rPr sz="2000" dirty="0" err="1"/>
              <a:t>HelloHandler</a:t>
            </a:r>
            <a:r>
              <a:rPr sz="2000" dirty="0"/>
              <a:t> implements </a:t>
            </a:r>
            <a:r>
              <a:rPr sz="2000" dirty="0" err="1"/>
              <a:t>RequestHandler</a:t>
            </a:r>
            <a:r>
              <a:rPr sz="2000" dirty="0"/>
              <a:t>&lt;Map&lt;String, String&gt;, String&gt; {</a:t>
            </a:r>
          </a:p>
          <a:p>
            <a:pPr marL="0" indent="0">
              <a:buNone/>
            </a:pPr>
            <a:r>
              <a:rPr sz="2000" dirty="0"/>
              <a:t>    @Override</a:t>
            </a:r>
          </a:p>
          <a:p>
            <a:pPr marL="0" indent="0">
              <a:buNone/>
            </a:pPr>
            <a:r>
              <a:rPr sz="2000" dirty="0"/>
              <a:t>    public String </a:t>
            </a:r>
            <a:r>
              <a:rPr sz="2000" dirty="0" err="1"/>
              <a:t>handleRequest</a:t>
            </a:r>
            <a:r>
              <a:rPr sz="2000" dirty="0"/>
              <a:t>(Map&lt;String, String&gt; event, Context context) {</a:t>
            </a:r>
          </a:p>
          <a:p>
            <a:pPr marL="0" indent="0">
              <a:buNone/>
            </a:pPr>
            <a:r>
              <a:rPr sz="2000" dirty="0"/>
              <a:t>        String name = </a:t>
            </a:r>
            <a:r>
              <a:rPr sz="2000" dirty="0" err="1"/>
              <a:t>event.getOrDefault</a:t>
            </a:r>
            <a:r>
              <a:rPr sz="2000" dirty="0"/>
              <a:t>("name", "World");</a:t>
            </a:r>
          </a:p>
          <a:p>
            <a:pPr marL="0" indent="0">
              <a:buNone/>
            </a:pPr>
            <a:r>
              <a:rPr sz="2000" dirty="0"/>
              <a:t>        return "Hello, " + name + " from API Gateway via Lambda!";</a:t>
            </a:r>
          </a:p>
          <a:p>
            <a:pPr marL="0" indent="0">
              <a:buNone/>
            </a:pPr>
            <a:r>
              <a:rPr sz="2000" dirty="0"/>
              <a:t>    }</a:t>
            </a:r>
          </a:p>
          <a:p>
            <a:pPr marL="0" indent="0">
              <a:buNone/>
            </a:pPr>
            <a:r>
              <a:rPr sz="2000" dirty="0"/>
              <a:t>}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// Deployed behind API Gateway endpoint: /hello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2AC8-4ED1-FA1D-128B-A866B5B4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4</TotalTime>
  <Words>824</Words>
  <Application>Microsoft Office PowerPoint</Application>
  <PresentationFormat>On-screen Show (4:3)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Wingdings</vt:lpstr>
      <vt:lpstr>Learners Point</vt:lpstr>
      <vt:lpstr>AWS API Gateway:   Building and Managing APIs</vt:lpstr>
      <vt:lpstr>Introduction to AWS API Gateway</vt:lpstr>
      <vt:lpstr>Why Use API Gateway?</vt:lpstr>
      <vt:lpstr>Core Concepts</vt:lpstr>
      <vt:lpstr>Supported API Types</vt:lpstr>
      <vt:lpstr>Architecture Overview</vt:lpstr>
      <vt:lpstr>Integration Types</vt:lpstr>
      <vt:lpstr>Request and Response Flow</vt:lpstr>
      <vt:lpstr>Security and Access Control</vt:lpstr>
      <vt:lpstr>Throttling, Quotas, and Caching</vt:lpstr>
      <vt:lpstr>Monitoring and Logging</vt:lpstr>
      <vt:lpstr>Versioning and Deployment Stages</vt:lpstr>
      <vt:lpstr>Error Handling</vt:lpstr>
      <vt:lpstr>Pricing Overview</vt:lpstr>
      <vt:lpstr>Common Use Cases</vt:lpstr>
      <vt:lpstr>Best Practices</vt:lpstr>
      <vt:lpstr>Hands-on Example: Building a REST API with Lambda</vt:lpstr>
      <vt:lpstr>Example: Java Lambda Integration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3</cp:revision>
  <dcterms:created xsi:type="dcterms:W3CDTF">2013-01-27T09:14:16Z</dcterms:created>
  <dcterms:modified xsi:type="dcterms:W3CDTF">2025-10-14T07:53:01Z</dcterms:modified>
  <cp:category/>
</cp:coreProperties>
</file>